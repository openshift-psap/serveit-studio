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9144000" cy="1097280"/>
          </a:xfrm>
          <a:prstGeom prst="rect">
            <a:avLst/>
          </a:prstGeom>
          <a:noFill/>
        </p:spPr>
        <p:txBody>
          <a:bodyPr wrap="square">
            <a:spAutoFit/>
          </a:bodyPr>
          <a:lstStyle/>
          <a:p>
            <a:r>
              <a:rPr sz="4000" b="1">
                <a:solidFill>
                  <a:srgbClr val="0C4A6E"/>
                </a:solidFill>
              </a:rPr>
              <a:t>RHAIIS 3.3 vs 3.4</a:t>
            </a:r>
          </a:p>
          <a:p>
            <a:r>
              <a:rPr sz="2200" b="0">
                <a:solidFill>
                  <a:srgbClr val="374151"/>
                </a:solidFill>
              </a:rPr>
              <a:t>Inference Performance Regression &amp; Optimization Results</a:t>
            </a:r>
          </a:p>
          <a:p>
            <a:pPr>
              <a:spcBef>
                <a:spcPts val="2400"/>
              </a:spcBef>
            </a:pPr>
            <a:r>
              <a:rPr sz="1200" b="1">
                <a:solidFill>
                  <a:srgbClr val="64748B"/>
                </a:solidFill>
              </a:rPr>
              <a:t>Hardware:  </a:t>
            </a:r>
            <a:r>
              <a:rPr sz="1200" b="0">
                <a:solidFill>
                  <a:srgbClr val="64748B"/>
                </a:solidFill>
              </a:rPr>
              <a:t>16x NVIDIA H200 (140GB), 2 nodes, CoreWeave, RDMA/InfiniBand</a:t>
            </a:r>
          </a:p>
          <a:p>
            <a:r>
              <a:rPr sz="1200" b="1">
                <a:solidFill>
                  <a:srgbClr val="64748B"/>
                </a:solidFill>
              </a:rPr>
              <a:t>Software:  </a:t>
            </a:r>
            <a:r>
              <a:rPr sz="1200" b="0">
                <a:solidFill>
                  <a:srgbClr val="64748B"/>
                </a:solidFill>
              </a:rPr>
              <a:t>llm-d v0.4.0 (RHAIIS 3.3) vs v0.6.0 (RHAIIS 3.4)</a:t>
            </a:r>
          </a:p>
          <a:p>
            <a:r>
              <a:rPr sz="1200" b="1">
                <a:solidFill>
                  <a:srgbClr val="64748B"/>
                </a:solidFill>
              </a:rPr>
              <a:t>Models:    </a:t>
            </a:r>
            <a:r>
              <a:rPr sz="1200" b="0">
                <a:solidFill>
                  <a:srgbClr val="64748B"/>
                </a:solidFill>
              </a:rPr>
              <a:t>9 models across Dense, Large/Medium/Small MoE architectures</a:t>
            </a:r>
          </a:p>
          <a:p>
            <a:r>
              <a:rPr sz="1200" b="1">
                <a:solidFill>
                  <a:srgbClr val="64748B"/>
                </a:solidFill>
              </a:rPr>
              <a:t>Workload:  </a:t>
            </a:r>
            <a:r>
              <a:rPr sz="1200" b="0">
                <a:solidFill>
                  <a:srgbClr val="64748B"/>
                </a:solidFill>
              </a:rPr>
              <a:t>ISL 2000 / OSL 100 / 100 concurrent users / 50% prefix cache</a:t>
            </a:r>
          </a:p>
          <a:p>
            <a:r>
              <a:rPr sz="1200" b="1">
                <a:solidFill>
                  <a:srgbClr val="64748B"/>
                </a:solidFill>
              </a:rPr>
              <a:t>Tool:      </a:t>
            </a:r>
            <a:r>
              <a:rPr sz="1200" b="0">
                <a:solidFill>
                  <a:srgbClr val="64748B"/>
                </a:solidFill>
              </a:rPr>
              <a:t>Inftune Studio — automated 11-step optimization pipeline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10972800" cy="365760"/>
          </a:xfrm>
          <a:prstGeom prst="rect">
            <a:avLst/>
          </a:prstGeom>
          <a:noFill/>
        </p:spPr>
        <p:txBody>
          <a:bodyPr wrap="square">
            <a:spAutoFit/>
          </a:bodyPr>
          <a:lstStyle/>
          <a:p>
            <a:r>
              <a:rPr sz="2200" b="1">
                <a:solidFill>
                  <a:srgbClr val="0C4A6E"/>
                </a:solidFill>
              </a:rPr>
              <a:t>Model Test Matrix — What We Could and Couldn't Test</a:t>
            </a:r>
          </a:p>
        </p:txBody>
      </p:sp>
      <p:graphicFrame>
        <p:nvGraphicFramePr>
          <p:cNvPr id="3" name="Table 2"/>
          <p:cNvGraphicFramePr>
            <a:graphicFrameLocks noGrp="1"/>
          </p:cNvGraphicFramePr>
          <p:nvPr/>
        </p:nvGraphicFramePr>
        <p:xfrm>
          <a:off x="182880" y="594360"/>
          <a:ext cx="11795760" cy="5029200"/>
        </p:xfrm>
        <a:graphic>
          <a:graphicData uri="http://schemas.openxmlformats.org/drawingml/2006/table">
            <a:tbl>
              <a:tblPr firstRow="1" bandRow="1">
                <a:tableStyleId>{5C22544A-7EE6-4342-B048-85BDC9FD1C3A}</a:tableStyleId>
              </a:tblPr>
              <a:tblGrid>
                <a:gridCol w="640080"/>
                <a:gridCol w="2743200"/>
                <a:gridCol w="640080"/>
                <a:gridCol w="640080"/>
                <a:gridCol w="640080"/>
                <a:gridCol w="731520"/>
                <a:gridCol w="5760720"/>
              </a:tblGrid>
              <a:tr h="502920">
                <a:tc>
                  <a:txBody>
                    <a:bodyPr wrap="square"/>
                    <a:lstStyle/>
                    <a:p>
                      <a:pPr algn="ctr"/>
                      <a:r>
                        <a:rPr sz="800" b="1">
                          <a:solidFill>
                            <a:srgbClr val="FFFFFF"/>
                          </a:solidFill>
                        </a:rPr>
                        <a:t>Arch</a:t>
                      </a:r>
                    </a:p>
                  </a:txBody>
                  <a:tcPr anchor="ctr">
                    <a:solidFill>
                      <a:srgbClr val="0c4a6e"/>
                    </a:solidFill>
                  </a:tcPr>
                </a:tc>
                <a:tc>
                  <a:txBody>
                    <a:bodyPr wrap="square"/>
                    <a:lstStyle/>
                    <a:p>
                      <a:pPr algn="ctr"/>
                      <a:r>
                        <a:rPr sz="800" b="1">
                          <a:solidFill>
                            <a:srgbClr val="FFFFFF"/>
                          </a:solidFill>
                        </a:rPr>
                        <a:t>Model</a:t>
                      </a:r>
                    </a:p>
                  </a:txBody>
                  <a:tcPr anchor="ctr">
                    <a:solidFill>
                      <a:srgbClr val="0c4a6e"/>
                    </a:solidFill>
                  </a:tcPr>
                </a:tc>
                <a:tc>
                  <a:txBody>
                    <a:bodyPr wrap="square"/>
                    <a:lstStyle/>
                    <a:p>
                      <a:pPr algn="ctr"/>
                      <a:r>
                        <a:rPr sz="800" b="1">
                          <a:solidFill>
                            <a:srgbClr val="FFFFFF"/>
                          </a:solidFill>
                        </a:rPr>
                        <a:t>3.3
Baseline</a:t>
                      </a:r>
                    </a:p>
                  </a:txBody>
                  <a:tcPr anchor="ctr">
                    <a:solidFill>
                      <a:srgbClr val="0c4a6e"/>
                    </a:solidFill>
                  </a:tcPr>
                </a:tc>
                <a:tc>
                  <a:txBody>
                    <a:bodyPr wrap="square"/>
                    <a:lstStyle/>
                    <a:p>
                      <a:pPr algn="ctr"/>
                      <a:r>
                        <a:rPr sz="800" b="1">
                          <a:solidFill>
                            <a:srgbClr val="FFFFFF"/>
                          </a:solidFill>
                        </a:rPr>
                        <a:t>3.4
Baseline</a:t>
                      </a:r>
                    </a:p>
                  </a:txBody>
                  <a:tcPr anchor="ctr">
                    <a:solidFill>
                      <a:srgbClr val="0c4a6e"/>
                    </a:solidFill>
                  </a:tcPr>
                </a:tc>
                <a:tc>
                  <a:txBody>
                    <a:bodyPr wrap="square"/>
                    <a:lstStyle/>
                    <a:p>
                      <a:pPr algn="ctr"/>
                      <a:r>
                        <a:rPr sz="800" b="1">
                          <a:solidFill>
                            <a:srgbClr val="FFFFFF"/>
                          </a:solidFill>
                        </a:rPr>
                        <a:t>3.4
Tuned</a:t>
                      </a:r>
                    </a:p>
                  </a:txBody>
                  <a:tcPr anchor="ctr">
                    <a:solidFill>
                      <a:srgbClr val="0c4a6e"/>
                    </a:solidFill>
                  </a:tcPr>
                </a:tc>
                <a:tc>
                  <a:txBody>
                    <a:bodyPr wrap="square"/>
                    <a:lstStyle/>
                    <a:p>
                      <a:pPr algn="ctr"/>
                      <a:r>
                        <a:rPr sz="800" b="1">
                          <a:solidFill>
                            <a:srgbClr val="FFFFFF"/>
                          </a:solidFill>
                        </a:rPr>
                        <a:t>3.3 vs 3.4
Regression</a:t>
                      </a:r>
                    </a:p>
                  </a:txBody>
                  <a:tcPr anchor="ctr">
                    <a:solidFill>
                      <a:srgbClr val="0c4a6e"/>
                    </a:solidFill>
                  </a:tcPr>
                </a:tc>
                <a:tc>
                  <a:txBody>
                    <a:bodyPr wrap="square"/>
                    <a:lstStyle/>
                    <a:p>
                      <a:pPr algn="ctr"/>
                      <a:r>
                        <a:rPr sz="800" b="1">
                          <a:solidFill>
                            <a:srgbClr val="FFFFFF"/>
                          </a:solidFill>
                        </a:rPr>
                        <a:t>Blocker / Notes</a:t>
                      </a:r>
                    </a:p>
                  </a:txBody>
                  <a:tcPr anchor="ctr">
                    <a:solidFill>
                      <a:srgbClr val="0c4a6e"/>
                    </a:solidFill>
                  </a:tcPr>
                </a:tc>
              </a:tr>
              <a:tr h="502920">
                <a:tc rowSpan="3">
                  <a:txBody>
                    <a:bodyPr wrap="square"/>
                    <a:lstStyle/>
                    <a:p>
                      <a:pPr algn="ctr"/>
                      <a:r>
                        <a:rPr sz="800" b="1">
                          <a:solidFill>
                            <a:srgbClr val="0C4A6E"/>
                          </a:solidFill>
                        </a:rPr>
                        <a:t>Dense</a:t>
                      </a:r>
                    </a:p>
                  </a:txBody>
                  <a:tcPr anchor="ctr">
                    <a:solidFill>
                      <a:srgbClr val="f0f9ff"/>
                    </a:solidFill>
                  </a:tcPr>
                </a:tc>
                <a:tc>
                  <a:txBody>
                    <a:bodyPr wrap="square"/>
                    <a:lstStyle/>
                    <a:p>
                      <a:pPr algn="l"/>
                      <a:r>
                        <a:rPr sz="700" b="0"/>
                        <a:t>RedHatAI/Llama-3.3-70B-Instruct-FP8-dynamic</a:t>
                      </a:r>
                    </a:p>
                  </a:txBody>
                  <a:tcPr anchor="ctr">
                    <a:solidFill>
                      <a:srgbClr val="ffffff"/>
                    </a:solidFill>
                  </a:tcPr>
                </a:tc>
                <a:tc>
                  <a:txBody>
                    <a:bodyPr wrap="square"/>
                    <a:lstStyle/>
                    <a:p>
                      <a:pPr algn="ctr"/>
                      <a:r>
                        <a:rPr sz="800" b="1">
                          <a:solidFill>
                            <a:srgbClr val="065F46"/>
                          </a:solidFill>
                        </a:rPr>
                        <a:t>PASS</a:t>
                      </a:r>
                    </a:p>
                  </a:txBody>
                  <a:tcPr anchor="ctr">
                    <a:solidFill>
                      <a:srgbClr val="d1fae5"/>
                    </a:solidFill>
                  </a:tcPr>
                </a:tc>
                <a:tc>
                  <a:txBody>
                    <a:bodyPr wrap="square"/>
                    <a:lstStyle/>
                    <a:p>
                      <a:pPr algn="ctr"/>
                      <a:r>
                        <a:rPr sz="800" b="1">
                          <a:solidFill>
                            <a:srgbClr val="065F46"/>
                          </a:solidFill>
                        </a:rPr>
                        <a:t>PASS</a:t>
                      </a:r>
                    </a:p>
                  </a:txBody>
                  <a:tcPr anchor="ctr">
                    <a:solidFill>
                      <a:srgbClr val="d1fae5"/>
                    </a:solidFill>
                  </a:tcPr>
                </a:tc>
                <a:tc>
                  <a:txBody>
                    <a:bodyPr wrap="square"/>
                    <a:lstStyle/>
                    <a:p>
                      <a:pPr algn="ctr"/>
                      <a:r>
                        <a:rPr sz="800" b="1">
                          <a:solidFill>
                            <a:srgbClr val="065F46"/>
                          </a:solidFill>
                        </a:rPr>
                        <a:t>PASS</a:t>
                      </a:r>
                    </a:p>
                  </a:txBody>
                  <a:tcPr anchor="ctr">
                    <a:solidFill>
                      <a:srgbClr val="d1fae5"/>
                    </a:solidFill>
                  </a:tcPr>
                </a:tc>
                <a:tc>
                  <a:txBody>
                    <a:bodyPr wrap="square"/>
                    <a:lstStyle/>
                    <a:p>
                      <a:pPr algn="ctr"/>
                      <a:r>
                        <a:rPr sz="800" b="1">
                          <a:solidFill>
                            <a:srgbClr val="065F46"/>
                          </a:solidFill>
                        </a:rPr>
                        <a:t>PASS</a:t>
                      </a:r>
                    </a:p>
                  </a:txBody>
                  <a:tcPr anchor="ctr">
                    <a:solidFill>
                      <a:srgbClr val="d1fae5"/>
                    </a:solidFill>
                  </a:tcPr>
                </a:tc>
                <a:tc>
                  <a:txBody>
                    <a:bodyPr wrap="square"/>
                    <a:lstStyle/>
                    <a:p>
                      <a:pPr algn="l"/>
                      <a:r>
                        <a:rPr sz="700" b="0"/>
                        <a:t>Fully tested. PD + Aggregated. 3.3 vs 3.4 regression complete.</a:t>
                      </a:r>
                    </a:p>
                  </a:txBody>
                  <a:tcPr anchor="ctr">
                    <a:solidFill>
                      <a:srgbClr val="ffffff"/>
                    </a:solidFill>
                  </a:tcPr>
                </a:tc>
              </a:tr>
              <a:tr h="502920">
                <a:tc vMerge="1">
                  <a:txBody>
                    <a:bodyPr wrap="square"/>
                    <a:lstStyle/>
                    <a:p>
                      <a:pPr algn="l"/>
                      <a:r>
                        <a:rPr sz="900" b="0"/>
                        <a:t/>
                      </a:r>
                    </a:p>
                  </a:txBody>
                  <a:tcPr anchor="ctr">
                    <a:solidFill>
                      <a:srgbClr val="f8fafc"/>
                    </a:solidFill>
                  </a:tcPr>
                </a:tc>
                <a:tc>
                  <a:txBody>
                    <a:bodyPr wrap="square"/>
                    <a:lstStyle/>
                    <a:p>
                      <a:pPr algn="l"/>
                      <a:r>
                        <a:rPr sz="700" b="0"/>
                        <a:t>Qwen/Qwen3-32B</a:t>
                      </a:r>
                    </a:p>
                  </a:txBody>
                  <a:tcPr anchor="ctr">
                    <a:solidFill>
                      <a:srgbClr val="f8fafc"/>
                    </a:solidFill>
                  </a:tcPr>
                </a:tc>
                <a:tc>
                  <a:txBody>
                    <a:bodyPr wrap="square"/>
                    <a:lstStyle/>
                    <a:p>
                      <a:pPr algn="ctr"/>
                      <a:r>
                        <a:rPr sz="800" b="1">
                          <a:solidFill>
                            <a:srgbClr val="065F46"/>
                          </a:solidFill>
                        </a:rPr>
                        <a:t>PASS</a:t>
                      </a:r>
                    </a:p>
                  </a:txBody>
                  <a:tcPr anchor="ctr">
                    <a:solidFill>
                      <a:srgbClr val="d1fae5"/>
                    </a:solidFill>
                  </a:tcPr>
                </a:tc>
                <a:tc>
                  <a:txBody>
                    <a:bodyPr wrap="square"/>
                    <a:lstStyle/>
                    <a:p>
                      <a:pPr algn="ctr"/>
                      <a:r>
                        <a:rPr sz="800" b="1">
                          <a:solidFill>
                            <a:srgbClr val="065F46"/>
                          </a:solidFill>
                        </a:rPr>
                        <a:t>PASS</a:t>
                      </a:r>
                    </a:p>
                  </a:txBody>
                  <a:tcPr anchor="ctr">
                    <a:solidFill>
                      <a:srgbClr val="d1fae5"/>
                    </a:solidFill>
                  </a:tcPr>
                </a:tc>
                <a:tc>
                  <a:txBody>
                    <a:bodyPr wrap="square"/>
                    <a:lstStyle/>
                    <a:p>
                      <a:pPr algn="ctr"/>
                      <a:r>
                        <a:rPr sz="800" b="1">
                          <a:solidFill>
                            <a:srgbClr val="065F46"/>
                          </a:solidFill>
                        </a:rPr>
                        <a:t>PASS</a:t>
                      </a:r>
                    </a:p>
                  </a:txBody>
                  <a:tcPr anchor="ctr">
                    <a:solidFill>
                      <a:srgbClr val="d1fae5"/>
                    </a:solidFill>
                  </a:tcPr>
                </a:tc>
                <a:tc>
                  <a:txBody>
                    <a:bodyPr wrap="square"/>
                    <a:lstStyle/>
                    <a:p>
                      <a:pPr algn="ctr"/>
                      <a:r>
                        <a:rPr sz="800" b="1">
                          <a:solidFill>
                            <a:srgbClr val="065F46"/>
                          </a:solidFill>
                        </a:rPr>
                        <a:t>PASS</a:t>
                      </a:r>
                    </a:p>
                  </a:txBody>
                  <a:tcPr anchor="ctr">
                    <a:solidFill>
                      <a:srgbClr val="d1fae5"/>
                    </a:solidFill>
                  </a:tcPr>
                </a:tc>
                <a:tc>
                  <a:txBody>
                    <a:bodyPr wrap="square"/>
                    <a:lstStyle/>
                    <a:p>
                      <a:pPr algn="l"/>
                      <a:r>
                        <a:rPr sz="700" b="0"/>
                        <a:t>Fully tested. PD + Aggregated. 3.3 vs 3.4 regression complete.</a:t>
                      </a:r>
                    </a:p>
                  </a:txBody>
                  <a:tcPr anchor="ctr">
                    <a:solidFill>
                      <a:srgbClr val="f8fafc"/>
                    </a:solidFill>
                  </a:tcPr>
                </a:tc>
              </a:tr>
              <a:tr h="502920">
                <a:tc vMerge="1">
                  <a:txBody>
                    <a:bodyPr wrap="square"/>
                    <a:lstStyle/>
                    <a:p>
                      <a:pPr algn="l"/>
                      <a:r>
                        <a:rPr sz="900" b="0"/>
                        <a:t/>
                      </a:r>
                    </a:p>
                  </a:txBody>
                  <a:tcPr anchor="ctr">
                    <a:solidFill>
                      <a:srgbClr val="ffffff"/>
                    </a:solidFill>
                  </a:tcPr>
                </a:tc>
                <a:tc>
                  <a:txBody>
                    <a:bodyPr wrap="square"/>
                    <a:lstStyle/>
                    <a:p>
                      <a:pPr algn="l"/>
                      <a:r>
                        <a:rPr sz="700" b="0"/>
                        <a:t>mistralai/Ministral-3-14B-Reasoning-2512</a:t>
                      </a:r>
                    </a:p>
                  </a:txBody>
                  <a:tcPr anchor="ctr">
                    <a:solidFill>
                      <a:srgbClr val="ffffff"/>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l"/>
                      <a:r>
                        <a:rPr sz="700" b="0"/>
                        <a:t>Not supported. model_type 'ministral3' not recognized by vLLM/transformers in llm-d v0.6.0.</a:t>
                      </a:r>
                    </a:p>
                  </a:txBody>
                  <a:tcPr anchor="ctr">
                    <a:solidFill>
                      <a:srgbClr val="ffffff"/>
                    </a:solidFill>
                  </a:tcPr>
                </a:tc>
              </a:tr>
              <a:tr h="502920">
                <a:tc rowSpan="2">
                  <a:txBody>
                    <a:bodyPr wrap="square"/>
                    <a:lstStyle/>
                    <a:p>
                      <a:pPr algn="ctr"/>
                      <a:r>
                        <a:rPr sz="800" b="1">
                          <a:solidFill>
                            <a:srgbClr val="0C4A6E"/>
                          </a:solidFill>
                        </a:rPr>
                        <a:t>Large
MoE</a:t>
                      </a:r>
                    </a:p>
                  </a:txBody>
                  <a:tcPr anchor="ctr">
                    <a:solidFill>
                      <a:srgbClr val="f0f9ff"/>
                    </a:solidFill>
                  </a:tcPr>
                </a:tc>
                <a:tc>
                  <a:txBody>
                    <a:bodyPr wrap="square"/>
                    <a:lstStyle/>
                    <a:p>
                      <a:pPr algn="l"/>
                      <a:r>
                        <a:rPr sz="700" b="0"/>
                        <a:t>RedHatAI/Llama-4-Maverick-17B-128E-Instruct-FP8</a:t>
                      </a:r>
                    </a:p>
                  </a:txBody>
                  <a:tcPr anchor="ctr">
                    <a:solidFill>
                      <a:srgbClr val="f8fafc"/>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1">
                          <a:solidFill>
                            <a:srgbClr val="92400E"/>
                          </a:solidFill>
                        </a:rPr>
                        <a:t>AGG</a:t>
                      </a:r>
                    </a:p>
                  </a:txBody>
                  <a:tcPr anchor="ctr">
                    <a:solidFill>
                      <a:srgbClr val="fef3c7"/>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l"/>
                      <a:r>
                        <a:rPr sz="700" b="0"/>
                        <a:t>New model. Aggregated only on 3.4. PD blocked: hybrid attention + NixlConnector HMA. DeepGemm incompatible (compressed-tensors per-channel FP8).</a:t>
                      </a:r>
                    </a:p>
                  </a:txBody>
                  <a:tcPr anchor="ctr">
                    <a:solidFill>
                      <a:srgbClr val="f8fafc"/>
                    </a:solidFill>
                  </a:tcPr>
                </a:tc>
              </a:tr>
              <a:tr h="502920">
                <a:tc vMerge="1">
                  <a:txBody>
                    <a:bodyPr wrap="square"/>
                    <a:lstStyle/>
                    <a:p>
                      <a:pPr algn="l"/>
                      <a:r>
                        <a:rPr sz="900" b="0"/>
                        <a:t/>
                      </a:r>
                    </a:p>
                  </a:txBody>
                  <a:tcPr anchor="ctr">
                    <a:solidFill>
                      <a:srgbClr val="ffffff"/>
                    </a:solidFill>
                  </a:tcPr>
                </a:tc>
                <a:tc>
                  <a:txBody>
                    <a:bodyPr wrap="square"/>
                    <a:lstStyle/>
                    <a:p>
                      <a:pPr algn="l"/>
                      <a:r>
                        <a:rPr sz="700" b="0"/>
                        <a:t>deepseek-ai/DeepSeek-R1-0528</a:t>
                      </a:r>
                    </a:p>
                  </a:txBody>
                  <a:tcPr anchor="ctr">
                    <a:solidFill>
                      <a:srgbClr val="ffffff"/>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l"/>
                      <a:r>
                        <a:rPr sz="700" b="0"/>
                        <a:t>New model. Not in RHAIIS 3.3. Can run aggregated and EP on 16 GPUs. Not tested yet.</a:t>
                      </a:r>
                    </a:p>
                  </a:txBody>
                  <a:tcPr anchor="ctr">
                    <a:solidFill>
                      <a:srgbClr val="ffffff"/>
                    </a:solidFill>
                  </a:tcPr>
                </a:tc>
              </a:tr>
              <a:tr h="502920">
                <a:tc>
                  <a:txBody>
                    <a:bodyPr wrap="square"/>
                    <a:lstStyle/>
                    <a:p>
                      <a:pPr algn="ctr"/>
                      <a:r>
                        <a:rPr sz="800" b="1">
                          <a:solidFill>
                            <a:srgbClr val="0C4A6E"/>
                          </a:solidFill>
                        </a:rPr>
                        <a:t>Medium
MoE</a:t>
                      </a:r>
                    </a:p>
                  </a:txBody>
                  <a:tcPr anchor="ctr">
                    <a:solidFill>
                      <a:srgbClr val="f0f9ff"/>
                    </a:solidFill>
                  </a:tcPr>
                </a:tc>
                <a:tc>
                  <a:txBody>
                    <a:bodyPr wrap="square"/>
                    <a:lstStyle/>
                    <a:p>
                      <a:pPr algn="l"/>
                      <a:r>
                        <a:rPr sz="700" b="0"/>
                        <a:t>RedHatAI/Qwen3-235B-A22B-FP8-dynamic</a:t>
                      </a:r>
                    </a:p>
                  </a:txBody>
                  <a:tcPr anchor="ctr">
                    <a:solidFill>
                      <a:srgbClr val="f8fafc"/>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l"/>
                      <a:r>
                        <a:rPr sz="700" b="0"/>
                        <a:t>Not new. Can run aggregated TP=8 on 16 GPUs (~29GB/GPU FP8). Not tested yet.</a:t>
                      </a:r>
                    </a:p>
                  </a:txBody>
                  <a:tcPr anchor="ctr">
                    <a:solidFill>
                      <a:srgbClr val="f8fafc"/>
                    </a:solidFill>
                  </a:tcPr>
                </a:tc>
              </a:tr>
              <a:tr h="502920">
                <a:tc rowSpan="3">
                  <a:txBody>
                    <a:bodyPr wrap="square"/>
                    <a:lstStyle/>
                    <a:p>
                      <a:pPr algn="ctr"/>
                      <a:r>
                        <a:rPr sz="800" b="1">
                          <a:solidFill>
                            <a:srgbClr val="0C4A6E"/>
                          </a:solidFill>
                        </a:rPr>
                        <a:t>Small
MoE</a:t>
                      </a:r>
                    </a:p>
                  </a:txBody>
                  <a:tcPr anchor="ctr">
                    <a:solidFill>
                      <a:srgbClr val="f0f9ff"/>
                    </a:solidFill>
                  </a:tcPr>
                </a:tc>
                <a:tc>
                  <a:txBody>
                    <a:bodyPr wrap="square"/>
                    <a:lstStyle/>
                    <a:p>
                      <a:pPr algn="l"/>
                      <a:r>
                        <a:rPr sz="700" b="0"/>
                        <a:t>Qwen/Qwen3-Next-80B-A3B-Instruct-FP8</a:t>
                      </a:r>
                    </a:p>
                  </a:txBody>
                  <a:tcPr anchor="ctr">
                    <a:solidFill>
                      <a:srgbClr val="ffffff"/>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1">
                          <a:solidFill>
                            <a:srgbClr val="92400E"/>
                          </a:solidFill>
                        </a:rPr>
                        <a:t>AGG</a:t>
                      </a:r>
                    </a:p>
                  </a:txBody>
                  <a:tcPr anchor="ctr">
                    <a:solidFill>
                      <a:srgbClr val="fef3c7"/>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l"/>
                      <a:r>
                        <a:rPr sz="700" b="0"/>
                        <a:t>New model. Aggregated TP&lt;=4 only. PD blocked: hybrid attention (GDN) + NixlConnector HMA. FP8 block quant limits TP&lt;=4. DeepGemm JIT crash at TP&lt;8.</a:t>
                      </a:r>
                    </a:p>
                  </a:txBody>
                  <a:tcPr anchor="ctr">
                    <a:solidFill>
                      <a:srgbClr val="ffffff"/>
                    </a:solidFill>
                  </a:tcPr>
                </a:tc>
              </a:tr>
              <a:tr h="502920">
                <a:tc vMerge="1">
                  <a:txBody>
                    <a:bodyPr wrap="square"/>
                    <a:lstStyle/>
                    <a:p>
                      <a:pPr algn="l"/>
                      <a:r>
                        <a:rPr sz="900" b="0"/>
                        <a:t/>
                      </a:r>
                    </a:p>
                  </a:txBody>
                  <a:tcPr anchor="ctr">
                    <a:solidFill>
                      <a:srgbClr val="f8fafc"/>
                    </a:solidFill>
                  </a:tcPr>
                </a:tc>
                <a:tc>
                  <a:txBody>
                    <a:bodyPr wrap="square"/>
                    <a:lstStyle/>
                    <a:p>
                      <a:pPr algn="l"/>
                      <a:r>
                        <a:rPr sz="700" b="0"/>
                        <a:t>openai/gpt-oss-120b</a:t>
                      </a:r>
                    </a:p>
                  </a:txBody>
                  <a:tcPr anchor="ctr">
                    <a:solidFill>
                      <a:srgbClr val="f8fafc"/>
                    </a:solidFill>
                  </a:tcPr>
                </a:tc>
                <a:tc>
                  <a:txBody>
                    <a:bodyPr wrap="square"/>
                    <a:lstStyle/>
                    <a:p>
                      <a:pPr algn="ctr"/>
                      <a:r>
                        <a:rPr sz="533" b="0">
                          <a:solidFill>
                            <a:srgbClr val="991B1B"/>
                          </a:solidFill>
                        </a:rPr>
                        <a:t>—</a:t>
                      </a:r>
                    </a:p>
                  </a:txBody>
                  <a:tcPr anchor="ctr">
                    <a:solidFill>
                      <a:srgbClr val="fee2e2"/>
                    </a:solidFill>
                    <a:solidFill>
                      <a:srgbClr val="fee2e2"/>
                    </a:solidFill>
                  </a:tcPr>
                </a:tc>
                <a:tc>
                  <a:txBody>
                    <a:bodyPr wrap="square"/>
                    <a:lstStyle/>
                    <a:p>
                      <a:pPr algn="ctr"/>
                      <a:r>
                        <a:rPr sz="533" b="0">
                          <a:solidFill>
                            <a:srgbClr val="991B1B"/>
                          </a:solidFill>
                        </a:rPr>
                        <a:t>—</a:t>
                      </a:r>
                    </a:p>
                  </a:txBody>
                  <a:tcPr anchor="ctr">
                    <a:solidFill>
                      <a:srgbClr val="fee2e2"/>
                    </a:solidFill>
                    <a:solidFill>
                      <a:srgbClr val="fee2e2"/>
                    </a:solidFill>
                  </a:tcPr>
                </a:tc>
                <a:tc>
                  <a:txBody>
                    <a:bodyPr wrap="square"/>
                    <a:lstStyle/>
                    <a:p>
                      <a:pPr algn="ctr"/>
                      <a:r>
                        <a:rPr sz="533" b="0">
                          <a:solidFill>
                            <a:srgbClr val="991B1B"/>
                          </a:solidFill>
                        </a:rPr>
                        <a:t>—</a:t>
                      </a:r>
                    </a:p>
                  </a:txBody>
                  <a:tcPr anchor="ctr">
                    <a:solidFill>
                      <a:srgbClr val="fee2e2"/>
                    </a:solidFill>
                    <a:solidFill>
                      <a:srgbClr val="fee2e2"/>
                    </a:solidFill>
                  </a:tcPr>
                </a:tc>
                <a:tc>
                  <a:txBody>
                    <a:bodyPr wrap="square"/>
                    <a:lstStyle/>
                    <a:p>
                      <a:pPr algn="ctr"/>
                      <a:r>
                        <a:rPr sz="533" b="0">
                          <a:solidFill>
                            <a:srgbClr val="991B1B"/>
                          </a:solidFill>
                        </a:rPr>
                        <a:t>—</a:t>
                      </a:r>
                    </a:p>
                  </a:txBody>
                  <a:tcPr anchor="ctr">
                    <a:solidFill>
                      <a:srgbClr val="fee2e2"/>
                    </a:solidFill>
                    <a:solidFill>
                      <a:srgbClr val="fee2e2"/>
                    </a:solidFill>
                  </a:tcPr>
                </a:tc>
                <a:tc>
                  <a:txBody>
                    <a:bodyPr wrap="square"/>
                    <a:lstStyle/>
                    <a:p>
                      <a:pPr algn="l"/>
                      <a:r>
                        <a:rPr sz="700" b="0"/>
                        <a:t>Not tested. Need to check hybrid attention status for PD support.</a:t>
                      </a:r>
                    </a:p>
                  </a:txBody>
                  <a:tcPr anchor="ctr">
                    <a:solidFill>
                      <a:srgbClr val="f8fafc"/>
                    </a:solidFill>
                  </a:tcPr>
                </a:tc>
              </a:tr>
              <a:tr h="502920">
                <a:tc vMerge="1">
                  <a:txBody>
                    <a:bodyPr wrap="square"/>
                    <a:lstStyle/>
                    <a:p>
                      <a:pPr algn="l"/>
                      <a:r>
                        <a:rPr sz="900" b="0"/>
                        <a:t/>
                      </a:r>
                    </a:p>
                  </a:txBody>
                  <a:tcPr anchor="ctr">
                    <a:solidFill>
                      <a:srgbClr val="ffffff"/>
                    </a:solidFill>
                  </a:tcPr>
                </a:tc>
                <a:tc>
                  <a:txBody>
                    <a:bodyPr wrap="square"/>
                    <a:lstStyle/>
                    <a:p>
                      <a:pPr algn="l"/>
                      <a:r>
                        <a:rPr sz="700" b="0"/>
                        <a:t>nvidia/NVIDIA-Nemotron-3-Nano-30B-A3B-FP8</a:t>
                      </a:r>
                    </a:p>
                  </a:txBody>
                  <a:tcPr anchor="ctr">
                    <a:solidFill>
                      <a:srgbClr val="ffffff"/>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ctr"/>
                      <a:r>
                        <a:rPr sz="800" b="0">
                          <a:solidFill>
                            <a:srgbClr val="991B1B"/>
                          </a:solidFill>
                        </a:rPr>
                        <a:t>—</a:t>
                      </a:r>
                    </a:p>
                  </a:txBody>
                  <a:tcPr anchor="ctr">
                    <a:solidFill>
                      <a:srgbClr val="fee2e2"/>
                    </a:solidFill>
                  </a:tcPr>
                </a:tc>
                <a:tc>
                  <a:txBody>
                    <a:bodyPr wrap="square"/>
                    <a:lstStyle/>
                    <a:p>
                      <a:pPr algn="l"/>
                      <a:r>
                        <a:rPr sz="700" b="0"/>
                        <a:t>New model. Not tested yet. Likely same hybrid attention constraints as Qwen3-Next.</a:t>
                      </a:r>
                    </a:p>
                  </a:txBody>
                  <a:tcPr anchor="ctr">
                    <a:solidFill>
                      <a:srgbClr val="ffffff"/>
                    </a:solidFill>
                  </a:tcPr>
                </a:tc>
              </a:tr>
            </a:tbl>
          </a:graphicData>
        </a:graphic>
      </p:graphicFrame>
      <p:sp>
        <p:nvSpPr>
          <p:cNvPr id="4" name="TextBox 3"/>
          <p:cNvSpPr txBox="1"/>
          <p:nvPr/>
        </p:nvSpPr>
        <p:spPr>
          <a:xfrm>
            <a:off x="274320" y="5715000"/>
            <a:ext cx="10972800" cy="365760"/>
          </a:xfrm>
          <a:prstGeom prst="rect">
            <a:avLst/>
          </a:prstGeom>
          <a:noFill/>
        </p:spPr>
        <p:txBody>
          <a:bodyPr wrap="square">
            <a:spAutoFit/>
          </a:bodyPr>
          <a:lstStyle/>
          <a:p>
            <a:r>
              <a:rPr sz="800" b="0">
                <a:solidFill>
                  <a:srgbClr val="64748B"/>
                </a:solidFill>
              </a:rPr>
              <a:t>PASS = full regression tested  |  AGG = aggregated only (PD blocked)  |  — = not tested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457200"/>
          </a:xfrm>
          <a:prstGeom prst="rect">
            <a:avLst/>
          </a:prstGeom>
          <a:noFill/>
        </p:spPr>
        <p:txBody>
          <a:bodyPr wrap="square">
            <a:spAutoFit/>
          </a:bodyPr>
          <a:lstStyle/>
          <a:p>
            <a:r>
              <a:rPr sz="2200" b="1">
                <a:solidFill>
                  <a:srgbClr val="0C4A6E"/>
                </a:solidFill>
              </a:rPr>
              <a:t>Why We Couldn't Test Some Models</a:t>
            </a:r>
          </a:p>
        </p:txBody>
      </p:sp>
      <p:sp>
        <p:nvSpPr>
          <p:cNvPr id="3" name="TextBox 2"/>
          <p:cNvSpPr txBox="1"/>
          <p:nvPr/>
        </p:nvSpPr>
        <p:spPr>
          <a:xfrm>
            <a:off x="457200" y="914400"/>
            <a:ext cx="10972800" cy="1097280"/>
          </a:xfrm>
          <a:prstGeom prst="rect">
            <a:avLst/>
          </a:prstGeom>
          <a:noFill/>
        </p:spPr>
        <p:txBody>
          <a:bodyPr wrap="square">
            <a:spAutoFit/>
          </a:bodyPr>
          <a:lstStyle/>
          <a:p>
            <a:r>
              <a:rPr sz="1300" b="1">
                <a:solidFill>
                  <a:srgbClr val="0C4A6E"/>
                </a:solidFill>
              </a:rPr>
              <a:t>1. New Models — No RHAIIS 3.3 Baseline Exists</a:t>
            </a:r>
          </a:p>
          <a:p>
            <a:pPr>
              <a:spcBef>
                <a:spcPts val="400"/>
              </a:spcBef>
            </a:pPr>
            <a:r>
              <a:rPr sz="1000" b="0">
                <a:solidFill>
                  <a:srgbClr val="374151"/>
                </a:solidFill>
              </a:rPr>
              <a:t>Ministral-3-14B, DeepSeek-R1, Qwen3-Next-80B, Nemotron-3-Nano are new models that didn't exist when RHAIIS 3.3 shipped. There is no 3.3 baseline to compare against, so regression testing is not applicable. These models can only be validated on 3.4.</a:t>
            </a:r>
          </a:p>
        </p:txBody>
      </p:sp>
      <p:sp>
        <p:nvSpPr>
          <p:cNvPr id="4" name="TextBox 3"/>
          <p:cNvSpPr txBox="1"/>
          <p:nvPr/>
        </p:nvSpPr>
        <p:spPr>
          <a:xfrm>
            <a:off x="457200" y="2331720"/>
            <a:ext cx="10972800" cy="1097280"/>
          </a:xfrm>
          <a:prstGeom prst="rect">
            <a:avLst/>
          </a:prstGeom>
          <a:noFill/>
        </p:spPr>
        <p:txBody>
          <a:bodyPr wrap="square">
            <a:spAutoFit/>
          </a:bodyPr>
          <a:lstStyle/>
          <a:p>
            <a:r>
              <a:rPr sz="1300" b="1">
                <a:solidFill>
                  <a:srgbClr val="0C4A6E"/>
                </a:solidFill>
              </a:rPr>
              <a:t>2. Hybrid Attention + NixlConnector HMA (PD Disaggregation Blocker)</a:t>
            </a:r>
          </a:p>
          <a:p>
            <a:pPr>
              <a:spcBef>
                <a:spcPts val="400"/>
              </a:spcBef>
            </a:pPr>
            <a:r>
              <a:rPr sz="1000" b="0">
                <a:solidFill>
                  <a:srgbClr val="374151"/>
                </a:solidFill>
              </a:rPr>
              <a:t>Llama-4-Maverick (attention_chunk_size=8192) and Qwen3-Next (GDN + full attention) use hybrid attention — mixing different attention types across layers. PD disaggregation via NixlConnector requires the Hybrid Memory Allocator (HMA) interface, which NixlConnector does not implement in vLLM v0.17.1 (llm-d v0.6.0 / RHAIIS 3.4). HMA support was added in vLLM v0.19.1 (llm-d v0.7.0 / RHAIIS 3.5 EA2). Aggregated mode works for all models.</a:t>
            </a:r>
          </a:p>
        </p:txBody>
      </p:sp>
      <p:sp>
        <p:nvSpPr>
          <p:cNvPr id="5" name="TextBox 4"/>
          <p:cNvSpPr txBox="1"/>
          <p:nvPr/>
        </p:nvSpPr>
        <p:spPr>
          <a:xfrm>
            <a:off x="457200" y="3749039"/>
            <a:ext cx="10972800" cy="1097280"/>
          </a:xfrm>
          <a:prstGeom prst="rect">
            <a:avLst/>
          </a:prstGeom>
          <a:noFill/>
        </p:spPr>
        <p:txBody>
          <a:bodyPr wrap="square">
            <a:spAutoFit/>
          </a:bodyPr>
          <a:lstStyle/>
          <a:p>
            <a:r>
              <a:rPr sz="1300" b="1">
                <a:solidFill>
                  <a:srgbClr val="0C4A6E"/>
                </a:solidFill>
              </a:rPr>
              <a:t>3. Model Size Exceeds 16 GPU Test Bed</a:t>
            </a:r>
          </a:p>
          <a:p>
            <a:pPr>
              <a:spcBef>
                <a:spcPts val="400"/>
              </a:spcBef>
            </a:pPr>
            <a:r>
              <a:rPr sz="1000" b="0">
                <a:solidFill>
                  <a:srgbClr val="374151"/>
                </a:solidFill>
              </a:rPr>
              <a:t>DeepSeek-R1-0528 (~671B total) and Qwen3-235B-A22B (~235B total, ~29GB/GPU at TP=8 FP8) can both run on 16 GPUs for aggregated and EP testing. Not yet tested due to time constraints.</a:t>
            </a:r>
          </a:p>
        </p:txBody>
      </p:sp>
      <p:sp>
        <p:nvSpPr>
          <p:cNvPr id="6" name="TextBox 5"/>
          <p:cNvSpPr txBox="1"/>
          <p:nvPr/>
        </p:nvSpPr>
        <p:spPr>
          <a:xfrm>
            <a:off x="457200" y="5166359"/>
            <a:ext cx="10972800" cy="1097280"/>
          </a:xfrm>
          <a:prstGeom prst="rect">
            <a:avLst/>
          </a:prstGeom>
          <a:noFill/>
        </p:spPr>
        <p:txBody>
          <a:bodyPr wrap="square">
            <a:spAutoFit/>
          </a:bodyPr>
          <a:lstStyle/>
          <a:p>
            <a:r>
              <a:rPr sz="1300" b="1">
                <a:solidFill>
                  <a:srgbClr val="0C4A6E"/>
                </a:solidFill>
              </a:rPr>
              <a:t>4. FP8 Quantization Incompatibilities</a:t>
            </a:r>
          </a:p>
          <a:p>
            <a:pPr>
              <a:spcBef>
                <a:spcPts val="400"/>
              </a:spcBef>
            </a:pPr>
            <a:r>
              <a:rPr sz="1000" b="0">
                <a:solidFill>
                  <a:srgbClr val="374151"/>
                </a:solidFill>
              </a:rPr>
              <a:t>Llama-4-Maverick uses compressed-tensors per-channel FP8 scales — DeepGemm kernel doesn't support this scheme. Qwen3-Next has shared_expert_intermediate_size=512, limiting max TP to 4 (FP8 block_n=128 requires partition &gt;= 128). DeepGemm JIT kernel also crashes at TP&lt;8 for some models (auto-enabled on H200s).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457200"/>
          </a:xfrm>
          <a:prstGeom prst="rect">
            <a:avLst/>
          </a:prstGeom>
          <a:noFill/>
        </p:spPr>
        <p:txBody>
          <a:bodyPr wrap="square">
            <a:spAutoFit/>
          </a:bodyPr>
          <a:lstStyle/>
          <a:p>
            <a:r>
              <a:rPr sz="2200" b="1">
                <a:solidFill>
                  <a:srgbClr val="0C4A6E"/>
                </a:solidFill>
              </a:rPr>
              <a:t>Qwen3-32B — 3.3 vs 3.4 Regression Results</a:t>
            </a:r>
          </a:p>
        </p:txBody>
      </p:sp>
      <p:sp>
        <p:nvSpPr>
          <p:cNvPr id="3" name="TextBox 2"/>
          <p:cNvSpPr txBox="1"/>
          <p:nvPr/>
        </p:nvSpPr>
        <p:spPr>
          <a:xfrm>
            <a:off x="457200" y="822960"/>
            <a:ext cx="10972800" cy="274320"/>
          </a:xfrm>
          <a:prstGeom prst="rect">
            <a:avLst/>
          </a:prstGeom>
          <a:noFill/>
        </p:spPr>
        <p:txBody>
          <a:bodyPr wrap="square">
            <a:spAutoFit/>
          </a:bodyPr>
          <a:lstStyle/>
          <a:p>
            <a:r>
              <a:rPr sz="1300" b="1">
                <a:solidFill>
                  <a:srgbClr val="374151"/>
                </a:solidFill>
              </a:rPr>
              <a:t>Prefill/Decode (3P+1D TP4 — same config across versions)</a:t>
            </a:r>
          </a:p>
        </p:txBody>
      </p:sp>
      <p:graphicFrame>
        <p:nvGraphicFramePr>
          <p:cNvPr id="4" name="Table 3"/>
          <p:cNvGraphicFramePr>
            <a:graphicFrameLocks noGrp="1"/>
          </p:cNvGraphicFramePr>
          <p:nvPr/>
        </p:nvGraphicFramePr>
        <p:xfrm>
          <a:off x="457200" y="1188720"/>
          <a:ext cx="8503920" cy="1828800"/>
        </p:xfrm>
        <a:graphic>
          <a:graphicData uri="http://schemas.openxmlformats.org/drawingml/2006/table">
            <a:tbl>
              <a:tblPr firstRow="1" bandRow="1">
                <a:tableStyleId>{5C22544A-7EE6-4342-B048-85BDC9FD1C3A}</a:tableStyleId>
              </a:tblPr>
              <a:tblGrid>
                <a:gridCol w="1371600"/>
                <a:gridCol w="1645920"/>
                <a:gridCol w="1645920"/>
                <a:gridCol w="1097280"/>
                <a:gridCol w="1645920"/>
                <a:gridCol w="1097280"/>
              </a:tblGrid>
              <a:tr h="365760">
                <a:tc>
                  <a:txBody>
                    <a:bodyPr wrap="square"/>
                    <a:lstStyle/>
                    <a:p>
                      <a:pPr algn="ctr"/>
                      <a:r>
                        <a:rPr sz="900" b="1">
                          <a:solidFill>
                            <a:srgbClr val="FFFFFF"/>
                          </a:solidFill>
                        </a:rPr>
                        <a:t>Metric</a:t>
                      </a:r>
                    </a:p>
                  </a:txBody>
                  <a:tcPr anchor="ctr">
                    <a:solidFill>
                      <a:srgbClr val="0c4a6e"/>
                    </a:solidFill>
                  </a:tcPr>
                </a:tc>
                <a:tc>
                  <a:txBody>
                    <a:bodyPr wrap="square"/>
                    <a:lstStyle/>
                    <a:p>
                      <a:pPr algn="ctr"/>
                      <a:r>
                        <a:rPr sz="900" b="1">
                          <a:solidFill>
                            <a:srgbClr val="FFFFFF"/>
                          </a:solidFill>
                        </a:rPr>
                        <a:t>RHAIIS 3.3</a:t>
                      </a:r>
                    </a:p>
                  </a:txBody>
                  <a:tcPr anchor="ctr">
                    <a:solidFill>
                      <a:srgbClr val="0c4a6e"/>
                    </a:solidFill>
                  </a:tcPr>
                </a:tc>
                <a:tc>
                  <a:txBody>
                    <a:bodyPr wrap="square"/>
                    <a:lstStyle/>
                    <a:p>
                      <a:pPr algn="ctr"/>
                      <a:r>
                        <a:rPr sz="900" b="1">
                          <a:solidFill>
                            <a:srgbClr val="FFFFFF"/>
                          </a:solidFill>
                        </a:rPr>
                        <a:t>RHAIIS 3.4</a:t>
                      </a:r>
                    </a:p>
                  </a:txBody>
                  <a:tcPr anchor="ctr">
                    <a:solidFill>
                      <a:srgbClr val="0c4a6e"/>
                    </a:solidFill>
                  </a:tcPr>
                </a:tc>
                <a:tc>
                  <a:txBody>
                    <a:bodyPr wrap="square"/>
                    <a:lstStyle/>
                    <a:p>
                      <a:pPr algn="ctr"/>
                      <a:r>
                        <a:rPr sz="900" b="1">
                          <a:solidFill>
                            <a:srgbClr val="FFFFFF"/>
                          </a:solidFill>
                        </a:rPr>
                        <a:t>Delta</a:t>
                      </a:r>
                    </a:p>
                  </a:txBody>
                  <a:tcPr anchor="ctr">
                    <a:solidFill>
                      <a:srgbClr val="0c4a6e"/>
                    </a:solidFill>
                  </a:tcPr>
                </a:tc>
                <a:tc>
                  <a:txBody>
                    <a:bodyPr wrap="square"/>
                    <a:lstStyle/>
                    <a:p>
                      <a:pPr algn="ctr"/>
                      <a:r>
                        <a:rPr sz="900" b="1">
                          <a:solidFill>
                            <a:srgbClr val="FFFFFF"/>
                          </a:solidFill>
                        </a:rPr>
                        <a:t>3.4 Tuned</a:t>
                      </a:r>
                    </a:p>
                  </a:txBody>
                  <a:tcPr anchor="ctr">
                    <a:solidFill>
                      <a:srgbClr val="0c4a6e"/>
                    </a:solidFill>
                  </a:tcPr>
                </a:tc>
                <a:tc>
                  <a:txBody>
                    <a:bodyPr wrap="square"/>
                    <a:lstStyle/>
                    <a:p>
                      <a:pPr algn="ctr"/>
                      <a:r>
                        <a:rPr sz="900" b="1">
                          <a:solidFill>
                            <a:srgbClr val="FFFFFF"/>
                          </a:solidFill>
                        </a:rPr>
                        <a:t>vs 3.3</a:t>
                      </a:r>
                    </a:p>
                  </a:txBody>
                  <a:tcPr anchor="ctr">
                    <a:solidFill>
                      <a:srgbClr val="0c4a6e"/>
                    </a:solidFill>
                  </a:tcPr>
                </a:tc>
              </a:tr>
              <a:tr h="365760">
                <a:tc>
                  <a:txBody>
                    <a:bodyPr wrap="square"/>
                    <a:lstStyle/>
                    <a:p>
                      <a:pPr algn="l"/>
                      <a:r>
                        <a:rPr sz="900" b="0">
                          <a:solidFill>
                            <a:srgbClr val="374151"/>
                          </a:solidFill>
                        </a:rPr>
                        <a:t>TTFT P90</a:t>
                      </a:r>
                    </a:p>
                  </a:txBody>
                  <a:tcPr anchor="ctr">
                    <a:solidFill>
                      <a:srgbClr val="ffffff"/>
                    </a:solidFill>
                  </a:tcPr>
                </a:tc>
                <a:tc>
                  <a:txBody>
                    <a:bodyPr wrap="square"/>
                    <a:lstStyle/>
                    <a:p>
                      <a:pPr algn="ctr"/>
                      <a:r>
                        <a:rPr sz="900" b="0">
                          <a:solidFill>
                            <a:srgbClr val="374151"/>
                          </a:solidFill>
                        </a:rPr>
                        <a:t>880 ms</a:t>
                      </a:r>
                    </a:p>
                  </a:txBody>
                  <a:tcPr anchor="ctr">
                    <a:solidFill>
                      <a:srgbClr val="ffffff"/>
                    </a:solidFill>
                  </a:tcPr>
                </a:tc>
                <a:tc>
                  <a:txBody>
                    <a:bodyPr wrap="square"/>
                    <a:lstStyle/>
                    <a:p>
                      <a:pPr algn="ctr"/>
                      <a:r>
                        <a:rPr sz="900" b="0">
                          <a:solidFill>
                            <a:srgbClr val="374151"/>
                          </a:solidFill>
                        </a:rPr>
                        <a:t>675 ms</a:t>
                      </a:r>
                    </a:p>
                  </a:txBody>
                  <a:tcPr anchor="ctr">
                    <a:solidFill>
                      <a:srgbClr val="ffffff"/>
                    </a:solidFill>
                  </a:tcPr>
                </a:tc>
                <a:tc>
                  <a:txBody>
                    <a:bodyPr wrap="square"/>
                    <a:lstStyle/>
                    <a:p>
                      <a:pPr algn="ctr"/>
                      <a:r>
                        <a:rPr sz="900" b="0">
                          <a:solidFill>
                            <a:srgbClr val="065F46"/>
                          </a:solidFill>
                        </a:rPr>
                        <a:t>-23.3%</a:t>
                      </a:r>
                    </a:p>
                  </a:txBody>
                  <a:tcPr anchor="ctr">
                    <a:solidFill>
                      <a:srgbClr val="ffffff"/>
                    </a:solidFill>
                  </a:tcPr>
                </a:tc>
                <a:tc>
                  <a:txBody>
                    <a:bodyPr wrap="square"/>
                    <a:lstStyle/>
                    <a:p>
                      <a:pPr algn="ctr"/>
                      <a:r>
                        <a:rPr sz="900" b="0">
                          <a:solidFill>
                            <a:srgbClr val="374151"/>
                          </a:solidFill>
                        </a:rPr>
                        <a:t>534 ms</a:t>
                      </a:r>
                    </a:p>
                  </a:txBody>
                  <a:tcPr anchor="ctr">
                    <a:solidFill>
                      <a:srgbClr val="ffffff"/>
                    </a:solidFill>
                  </a:tcPr>
                </a:tc>
                <a:tc>
                  <a:txBody>
                    <a:bodyPr wrap="square"/>
                    <a:lstStyle/>
                    <a:p>
                      <a:pPr algn="ctr"/>
                      <a:r>
                        <a:rPr sz="900" b="0">
                          <a:solidFill>
                            <a:srgbClr val="065F46"/>
                          </a:solidFill>
                        </a:rPr>
                        <a:t>-39.3%</a:t>
                      </a:r>
                    </a:p>
                  </a:txBody>
                  <a:tcPr anchor="ctr">
                    <a:solidFill>
                      <a:srgbClr val="ffffff"/>
                    </a:solidFill>
                  </a:tcPr>
                </a:tc>
              </a:tr>
              <a:tr h="365760">
                <a:tc>
                  <a:txBody>
                    <a:bodyPr wrap="square"/>
                    <a:lstStyle/>
                    <a:p>
                      <a:pPr algn="l"/>
                      <a:r>
                        <a:rPr sz="900" b="0">
                          <a:solidFill>
                            <a:srgbClr val="374151"/>
                          </a:solidFill>
                        </a:rPr>
                        <a:t>TTFT P99</a:t>
                      </a:r>
                    </a:p>
                  </a:txBody>
                  <a:tcPr anchor="ctr">
                    <a:solidFill>
                      <a:srgbClr val="f8fafc"/>
                    </a:solidFill>
                  </a:tcPr>
                </a:tc>
                <a:tc>
                  <a:txBody>
                    <a:bodyPr wrap="square"/>
                    <a:lstStyle/>
                    <a:p>
                      <a:pPr algn="ctr"/>
                      <a:r>
                        <a:rPr sz="900" b="0">
                          <a:solidFill>
                            <a:srgbClr val="374151"/>
                          </a:solidFill>
                        </a:rPr>
                        <a:t>1,592 ms</a:t>
                      </a:r>
                    </a:p>
                  </a:txBody>
                  <a:tcPr anchor="ctr">
                    <a:solidFill>
                      <a:srgbClr val="f8fafc"/>
                    </a:solidFill>
                  </a:tcPr>
                </a:tc>
                <a:tc>
                  <a:txBody>
                    <a:bodyPr wrap="square"/>
                    <a:lstStyle/>
                    <a:p>
                      <a:pPr algn="ctr"/>
                      <a:r>
                        <a:rPr sz="900" b="0">
                          <a:solidFill>
                            <a:srgbClr val="374151"/>
                          </a:solidFill>
                        </a:rPr>
                        <a:t>1,240 ms</a:t>
                      </a:r>
                    </a:p>
                  </a:txBody>
                  <a:tcPr anchor="ctr">
                    <a:solidFill>
                      <a:srgbClr val="f8fafc"/>
                    </a:solidFill>
                  </a:tcPr>
                </a:tc>
                <a:tc>
                  <a:txBody>
                    <a:bodyPr wrap="square"/>
                    <a:lstStyle/>
                    <a:p>
                      <a:pPr algn="ctr"/>
                      <a:r>
                        <a:rPr sz="900" b="0">
                          <a:solidFill>
                            <a:srgbClr val="065F46"/>
                          </a:solidFill>
                        </a:rPr>
                        <a:t>-22.1%</a:t>
                      </a:r>
                    </a:p>
                  </a:txBody>
                  <a:tcPr anchor="ctr">
                    <a:solidFill>
                      <a:srgbClr val="f8fafc"/>
                    </a:solidFill>
                  </a:tcPr>
                </a:tc>
                <a:tc>
                  <a:txBody>
                    <a:bodyPr wrap="square"/>
                    <a:lstStyle/>
                    <a:p>
                      <a:pPr algn="ctr"/>
                      <a:r>
                        <a:rPr sz="900" b="0">
                          <a:solidFill>
                            <a:srgbClr val="374151"/>
                          </a:solidFill>
                        </a:rPr>
                        <a:t>993 ms</a:t>
                      </a:r>
                    </a:p>
                  </a:txBody>
                  <a:tcPr anchor="ctr">
                    <a:solidFill>
                      <a:srgbClr val="f8fafc"/>
                    </a:solidFill>
                  </a:tcPr>
                </a:tc>
                <a:tc>
                  <a:txBody>
                    <a:bodyPr wrap="square"/>
                    <a:lstStyle/>
                    <a:p>
                      <a:pPr algn="ctr"/>
                      <a:r>
                        <a:rPr sz="900" b="0">
                          <a:solidFill>
                            <a:srgbClr val="065F46"/>
                          </a:solidFill>
                        </a:rPr>
                        <a:t>-37.6%</a:t>
                      </a:r>
                    </a:p>
                  </a:txBody>
                  <a:tcPr anchor="ctr">
                    <a:solidFill>
                      <a:srgbClr val="f8fafc"/>
                    </a:solidFill>
                  </a:tcPr>
                </a:tc>
              </a:tr>
              <a:tr h="365760">
                <a:tc>
                  <a:txBody>
                    <a:bodyPr wrap="square"/>
                    <a:lstStyle/>
                    <a:p>
                      <a:pPr algn="l"/>
                      <a:r>
                        <a:rPr sz="900" b="0">
                          <a:solidFill>
                            <a:srgbClr val="374151"/>
                          </a:solidFill>
                        </a:rPr>
                        <a:t>Throughput Mean</a:t>
                      </a:r>
                    </a:p>
                  </a:txBody>
                  <a:tcPr anchor="ctr">
                    <a:solidFill>
                      <a:srgbClr val="ffffff"/>
                    </a:solidFill>
                  </a:tcPr>
                </a:tc>
                <a:tc>
                  <a:txBody>
                    <a:bodyPr wrap="square"/>
                    <a:lstStyle/>
                    <a:p>
                      <a:pPr algn="ctr"/>
                      <a:r>
                        <a:rPr sz="900" b="0">
                          <a:solidFill>
                            <a:srgbClr val="374151"/>
                          </a:solidFill>
                        </a:rPr>
                        <a:t>18.3 req/s</a:t>
                      </a:r>
                    </a:p>
                  </a:txBody>
                  <a:tcPr anchor="ctr">
                    <a:solidFill>
                      <a:srgbClr val="ffffff"/>
                    </a:solidFill>
                  </a:tcPr>
                </a:tc>
                <a:tc>
                  <a:txBody>
                    <a:bodyPr wrap="square"/>
                    <a:lstStyle/>
                    <a:p>
                      <a:pPr algn="ctr"/>
                      <a:r>
                        <a:rPr sz="900" b="0">
                          <a:solidFill>
                            <a:srgbClr val="374151"/>
                          </a:solidFill>
                        </a:rPr>
                        <a:t>28.8 req/s</a:t>
                      </a:r>
                    </a:p>
                  </a:txBody>
                  <a:tcPr anchor="ctr">
                    <a:solidFill>
                      <a:srgbClr val="ffffff"/>
                    </a:solidFill>
                  </a:tcPr>
                </a:tc>
                <a:tc>
                  <a:txBody>
                    <a:bodyPr wrap="square"/>
                    <a:lstStyle/>
                    <a:p>
                      <a:pPr algn="ctr"/>
                      <a:r>
                        <a:rPr sz="900" b="0">
                          <a:solidFill>
                            <a:srgbClr val="374151"/>
                          </a:solidFill>
                        </a:rPr>
                        <a:t>+57.4%</a:t>
                      </a:r>
                    </a:p>
                  </a:txBody>
                  <a:tcPr anchor="ctr">
                    <a:solidFill>
                      <a:srgbClr val="ffffff"/>
                    </a:solidFill>
                  </a:tcPr>
                </a:tc>
                <a:tc>
                  <a:txBody>
                    <a:bodyPr wrap="square"/>
                    <a:lstStyle/>
                    <a:p>
                      <a:pPr algn="ctr"/>
                      <a:r>
                        <a:rPr sz="900" b="0">
                          <a:solidFill>
                            <a:srgbClr val="374151"/>
                          </a:solidFill>
                        </a:rPr>
                        <a:t>42.0 req/s</a:t>
                      </a:r>
                    </a:p>
                  </a:txBody>
                  <a:tcPr anchor="ctr">
                    <a:solidFill>
                      <a:srgbClr val="ffffff"/>
                    </a:solidFill>
                  </a:tcPr>
                </a:tc>
                <a:tc>
                  <a:txBody>
                    <a:bodyPr wrap="square"/>
                    <a:lstStyle/>
                    <a:p>
                      <a:pPr algn="ctr"/>
                      <a:r>
                        <a:rPr sz="900" b="0">
                          <a:solidFill>
                            <a:srgbClr val="374151"/>
                          </a:solidFill>
                        </a:rPr>
                        <a:t>+129.5%</a:t>
                      </a:r>
                    </a:p>
                  </a:txBody>
                  <a:tcPr anchor="ctr">
                    <a:solidFill>
                      <a:srgbClr val="ffffff"/>
                    </a:solidFill>
                  </a:tcPr>
                </a:tc>
              </a:tr>
              <a:tr h="365760">
                <a:tc>
                  <a:txBody>
                    <a:bodyPr wrap="square"/>
                    <a:lstStyle/>
                    <a:p>
                      <a:pPr algn="l"/>
                      <a:r>
                        <a:rPr sz="900" b="0">
                          <a:solidFill>
                            <a:srgbClr val="374151"/>
                          </a:solidFill>
                        </a:rPr>
                        <a:t>ITL P90</a:t>
                      </a:r>
                    </a:p>
                  </a:txBody>
                  <a:tcPr anchor="ctr">
                    <a:solidFill>
                      <a:srgbClr val="f8fafc"/>
                    </a:solidFill>
                  </a:tcPr>
                </a:tc>
                <a:tc>
                  <a:txBody>
                    <a:bodyPr wrap="square"/>
                    <a:lstStyle/>
                    <a:p>
                      <a:pPr algn="ctr"/>
                      <a:r>
                        <a:rPr sz="900" b="0">
                          <a:solidFill>
                            <a:srgbClr val="374151"/>
                          </a:solidFill>
                        </a:rPr>
                        <a:t>18.6 ms</a:t>
                      </a:r>
                    </a:p>
                  </a:txBody>
                  <a:tcPr anchor="ctr">
                    <a:solidFill>
                      <a:srgbClr val="f8fafc"/>
                    </a:solidFill>
                  </a:tcPr>
                </a:tc>
                <a:tc>
                  <a:txBody>
                    <a:bodyPr wrap="square"/>
                    <a:lstStyle/>
                    <a:p>
                      <a:pPr algn="ctr"/>
                      <a:r>
                        <a:rPr sz="900" b="0">
                          <a:solidFill>
                            <a:srgbClr val="374151"/>
                          </a:solidFill>
                        </a:rPr>
                        <a:t>12.1 ms</a:t>
                      </a:r>
                    </a:p>
                  </a:txBody>
                  <a:tcPr anchor="ctr">
                    <a:solidFill>
                      <a:srgbClr val="f8fafc"/>
                    </a:solidFill>
                  </a:tcPr>
                </a:tc>
                <a:tc>
                  <a:txBody>
                    <a:bodyPr wrap="square"/>
                    <a:lstStyle/>
                    <a:p>
                      <a:pPr algn="ctr"/>
                      <a:r>
                        <a:rPr sz="900" b="0">
                          <a:solidFill>
                            <a:srgbClr val="065F46"/>
                          </a:solidFill>
                        </a:rPr>
                        <a:t>-34.9%</a:t>
                      </a:r>
                    </a:p>
                  </a:txBody>
                  <a:tcPr anchor="ctr">
                    <a:solidFill>
                      <a:srgbClr val="f8fafc"/>
                    </a:solidFill>
                  </a:tcPr>
                </a:tc>
                <a:tc>
                  <a:txBody>
                    <a:bodyPr wrap="square"/>
                    <a:lstStyle/>
                    <a:p>
                      <a:pPr algn="ctr"/>
                      <a:r>
                        <a:rPr sz="900" b="0">
                          <a:solidFill>
                            <a:srgbClr val="374151"/>
                          </a:solidFill>
                        </a:rPr>
                        <a:t>12.3 ms</a:t>
                      </a:r>
                    </a:p>
                  </a:txBody>
                  <a:tcPr anchor="ctr">
                    <a:solidFill>
                      <a:srgbClr val="f8fafc"/>
                    </a:solidFill>
                  </a:tcPr>
                </a:tc>
                <a:tc>
                  <a:txBody>
                    <a:bodyPr wrap="square"/>
                    <a:lstStyle/>
                    <a:p>
                      <a:pPr algn="ctr"/>
                      <a:r>
                        <a:rPr sz="900" b="0">
                          <a:solidFill>
                            <a:srgbClr val="065F46"/>
                          </a:solidFill>
                        </a:rPr>
                        <a:t>-33.9%</a:t>
                      </a:r>
                    </a:p>
                  </a:txBody>
                  <a:tcPr anchor="ctr">
                    <a:solidFill>
                      <a:srgbClr val="f8fafc"/>
                    </a:solidFill>
                  </a:tcPr>
                </a:tc>
              </a:tr>
            </a:tbl>
          </a:graphicData>
        </a:graphic>
      </p:graphicFrame>
      <p:sp>
        <p:nvSpPr>
          <p:cNvPr id="5" name="TextBox 4"/>
          <p:cNvSpPr txBox="1"/>
          <p:nvPr/>
        </p:nvSpPr>
        <p:spPr>
          <a:xfrm>
            <a:off x="457200" y="3200400"/>
            <a:ext cx="10972800" cy="274320"/>
          </a:xfrm>
          <a:prstGeom prst="rect">
            <a:avLst/>
          </a:prstGeom>
          <a:noFill/>
        </p:spPr>
        <p:txBody>
          <a:bodyPr wrap="square">
            <a:spAutoFit/>
          </a:bodyPr>
          <a:lstStyle/>
          <a:p>
            <a:r>
              <a:rPr sz="1300" b="1">
                <a:solidFill>
                  <a:srgbClr val="374151"/>
                </a:solidFill>
              </a:rPr>
              <a:t>Aggregated — Best Config per Version</a:t>
            </a:r>
          </a:p>
        </p:txBody>
      </p:sp>
      <p:graphicFrame>
        <p:nvGraphicFramePr>
          <p:cNvPr id="6" name="Table 5"/>
          <p:cNvGraphicFramePr>
            <a:graphicFrameLocks noGrp="1"/>
          </p:cNvGraphicFramePr>
          <p:nvPr/>
        </p:nvGraphicFramePr>
        <p:xfrm>
          <a:off x="457200" y="3566160"/>
          <a:ext cx="7315200" cy="1463040"/>
        </p:xfrm>
        <a:graphic>
          <a:graphicData uri="http://schemas.openxmlformats.org/drawingml/2006/table">
            <a:tbl>
              <a:tblPr firstRow="1" bandRow="1">
                <a:tableStyleId>{5C22544A-7EE6-4342-B048-85BDC9FD1C3A}</a:tableStyleId>
              </a:tblPr>
              <a:tblGrid>
                <a:gridCol w="1371600"/>
                <a:gridCol w="1371600"/>
                <a:gridCol w="2286000"/>
                <a:gridCol w="2286000"/>
              </a:tblGrid>
              <a:tr h="365760">
                <a:tc>
                  <a:txBody>
                    <a:bodyPr wrap="square"/>
                    <a:lstStyle/>
                    <a:p>
                      <a:pPr algn="ctr"/>
                      <a:r>
                        <a:rPr sz="900" b="1">
                          <a:solidFill>
                            <a:srgbClr val="FFFFFF"/>
                          </a:solidFill>
                        </a:rPr>
                        <a:t>Version</a:t>
                      </a:r>
                    </a:p>
                  </a:txBody>
                  <a:tcPr anchor="ctr">
                    <a:solidFill>
                      <a:srgbClr val="0c4a6e"/>
                    </a:solidFill>
                  </a:tcPr>
                </a:tc>
                <a:tc>
                  <a:txBody>
                    <a:bodyPr wrap="square"/>
                    <a:lstStyle/>
                    <a:p>
                      <a:pPr algn="ctr"/>
                      <a:r>
                        <a:rPr sz="900" b="1">
                          <a:solidFill>
                            <a:srgbClr val="FFFFFF"/>
                          </a:solidFill>
                        </a:rPr>
                        <a:t>Config</a:t>
                      </a:r>
                    </a:p>
                  </a:txBody>
                  <a:tcPr anchor="ctr">
                    <a:solidFill>
                      <a:srgbClr val="0c4a6e"/>
                    </a:solidFill>
                  </a:tcPr>
                </a:tc>
                <a:tc>
                  <a:txBody>
                    <a:bodyPr wrap="square"/>
                    <a:lstStyle/>
                    <a:p>
                      <a:pPr algn="ctr"/>
                      <a:r>
                        <a:rPr sz="900" b="1">
                          <a:solidFill>
                            <a:srgbClr val="FFFFFF"/>
                          </a:solidFill>
                        </a:rPr>
                        <a:t>TTFT P90</a:t>
                      </a:r>
                    </a:p>
                  </a:txBody>
                  <a:tcPr anchor="ctr">
                    <a:solidFill>
                      <a:srgbClr val="0c4a6e"/>
                    </a:solidFill>
                  </a:tcPr>
                </a:tc>
                <a:tc>
                  <a:txBody>
                    <a:bodyPr wrap="square"/>
                    <a:lstStyle/>
                    <a:p>
                      <a:pPr algn="ctr"/>
                      <a:r>
                        <a:rPr sz="900" b="1">
                          <a:solidFill>
                            <a:srgbClr val="FFFFFF"/>
                          </a:solidFill>
                        </a:rPr>
                        <a:t>Throughput Mean</a:t>
                      </a:r>
                    </a:p>
                  </a:txBody>
                  <a:tcPr anchor="ctr">
                    <a:solidFill>
                      <a:srgbClr val="0c4a6e"/>
                    </a:solidFill>
                  </a:tcPr>
                </a:tc>
              </a:tr>
              <a:tr h="365760">
                <a:tc>
                  <a:txBody>
                    <a:bodyPr wrap="square"/>
                    <a:lstStyle/>
                    <a:p>
                      <a:pPr algn="l"/>
                      <a:r>
                        <a:rPr sz="900" b="0"/>
                        <a:t>RHAIIS 3.3</a:t>
                      </a:r>
                    </a:p>
                  </a:txBody>
                  <a:tcPr anchor="ctr">
                    <a:solidFill>
                      <a:srgbClr val="ffffff"/>
                    </a:solidFill>
                  </a:tcPr>
                </a:tc>
                <a:tc>
                  <a:txBody>
                    <a:bodyPr wrap="square"/>
                    <a:lstStyle/>
                    <a:p>
                      <a:pPr algn="ctr"/>
                      <a:r>
                        <a:rPr sz="900" b="0"/>
                        <a:t>4x TP4</a:t>
                      </a:r>
                    </a:p>
                  </a:txBody>
                  <a:tcPr anchor="ctr">
                    <a:solidFill>
                      <a:srgbClr val="ffffff"/>
                    </a:solidFill>
                  </a:tcPr>
                </a:tc>
                <a:tc>
                  <a:txBody>
                    <a:bodyPr wrap="square"/>
                    <a:lstStyle/>
                    <a:p>
                      <a:pPr algn="ctr"/>
                      <a:r>
                        <a:rPr sz="900" b="0"/>
                        <a:t>1,177 ms</a:t>
                      </a:r>
                    </a:p>
                  </a:txBody>
                  <a:tcPr anchor="ctr">
                    <a:solidFill>
                      <a:srgbClr val="ffffff"/>
                    </a:solidFill>
                  </a:tcPr>
                </a:tc>
                <a:tc>
                  <a:txBody>
                    <a:bodyPr wrap="square"/>
                    <a:lstStyle/>
                    <a:p>
                      <a:pPr algn="ctr"/>
                      <a:r>
                        <a:rPr sz="900" b="0"/>
                        <a:t>6.2 req/s</a:t>
                      </a:r>
                    </a:p>
                  </a:txBody>
                  <a:tcPr anchor="ctr">
                    <a:solidFill>
                      <a:srgbClr val="ffffff"/>
                    </a:solidFill>
                  </a:tcPr>
                </a:tc>
              </a:tr>
              <a:tr h="365760">
                <a:tc>
                  <a:txBody>
                    <a:bodyPr wrap="square"/>
                    <a:lstStyle/>
                    <a:p>
                      <a:pPr algn="l"/>
                      <a:r>
                        <a:rPr sz="900" b="0"/>
                        <a:t>RHAIIS 3.4</a:t>
                      </a:r>
                    </a:p>
                  </a:txBody>
                  <a:tcPr anchor="ctr">
                    <a:solidFill>
                      <a:srgbClr val="f8fafc"/>
                    </a:solidFill>
                  </a:tcPr>
                </a:tc>
                <a:tc>
                  <a:txBody>
                    <a:bodyPr wrap="square"/>
                    <a:lstStyle/>
                    <a:p>
                      <a:pPr algn="ctr"/>
                      <a:r>
                        <a:rPr sz="900" b="0"/>
                        <a:t>8x TP2</a:t>
                      </a:r>
                    </a:p>
                  </a:txBody>
                  <a:tcPr anchor="ctr">
                    <a:solidFill>
                      <a:srgbClr val="f8fafc"/>
                    </a:solidFill>
                  </a:tcPr>
                </a:tc>
                <a:tc>
                  <a:txBody>
                    <a:bodyPr wrap="square"/>
                    <a:lstStyle/>
                    <a:p>
                      <a:pPr algn="ctr"/>
                      <a:r>
                        <a:rPr sz="900" b="0"/>
                        <a:t>995 ms (-15.5%)</a:t>
                      </a:r>
                    </a:p>
                  </a:txBody>
                  <a:tcPr anchor="ctr">
                    <a:solidFill>
                      <a:srgbClr val="f8fafc"/>
                    </a:solidFill>
                  </a:tcPr>
                </a:tc>
                <a:tc>
                  <a:txBody>
                    <a:bodyPr wrap="square"/>
                    <a:lstStyle/>
                    <a:p>
                      <a:pPr algn="ctr"/>
                      <a:r>
                        <a:rPr sz="900" b="0"/>
                        <a:t>17.5 req/s (+183%)</a:t>
                      </a:r>
                    </a:p>
                  </a:txBody>
                  <a:tcPr anchor="ctr">
                    <a:solidFill>
                      <a:srgbClr val="f8fafc"/>
                    </a:solidFill>
                  </a:tcPr>
                </a:tc>
              </a:tr>
              <a:tr h="365760">
                <a:tc>
                  <a:txBody>
                    <a:bodyPr wrap="square"/>
                    <a:lstStyle/>
                    <a:p>
                      <a:pPr algn="l"/>
                      <a:r>
                        <a:rPr sz="900" b="0"/>
                        <a:t>3.4 Tuned</a:t>
                      </a:r>
                    </a:p>
                  </a:txBody>
                  <a:tcPr anchor="ctr">
                    <a:solidFill>
                      <a:srgbClr val="ffffff"/>
                    </a:solidFill>
                  </a:tcPr>
                </a:tc>
                <a:tc>
                  <a:txBody>
                    <a:bodyPr wrap="square"/>
                    <a:lstStyle/>
                    <a:p>
                      <a:pPr algn="ctr"/>
                      <a:r>
                        <a:rPr sz="900" b="0"/>
                        <a:t>2x TP8</a:t>
                      </a:r>
                    </a:p>
                  </a:txBody>
                  <a:tcPr anchor="ctr">
                    <a:solidFill>
                      <a:srgbClr val="ffffff"/>
                    </a:solidFill>
                  </a:tcPr>
                </a:tc>
                <a:tc>
                  <a:txBody>
                    <a:bodyPr wrap="square"/>
                    <a:lstStyle/>
                    <a:p>
                      <a:pPr algn="ctr"/>
                      <a:r>
                        <a:rPr sz="900" b="0"/>
                        <a:t>304 ms (-74.2%)</a:t>
                      </a:r>
                    </a:p>
                  </a:txBody>
                  <a:tcPr anchor="ctr">
                    <a:solidFill>
                      <a:srgbClr val="ffffff"/>
                    </a:solidFill>
                  </a:tcPr>
                </a:tc>
                <a:tc>
                  <a:txBody>
                    <a:bodyPr wrap="square"/>
                    <a:lstStyle/>
                    <a:p>
                      <a:pPr algn="ctr"/>
                      <a:r>
                        <a:rPr sz="900" b="0"/>
                        <a:t>30.1 req/s (+386%)</a:t>
                      </a:r>
                    </a:p>
                  </a:txBody>
                  <a:tcPr anchor="ctr">
                    <a:solidFill>
                      <a:srgbClr val="ffffff"/>
                    </a:solidFill>
                  </a:tcPr>
                </a:tc>
              </a:tr>
            </a:tbl>
          </a:graphicData>
        </a:graphic>
      </p:graphicFrame>
      <p:sp>
        <p:nvSpPr>
          <p:cNvPr id="7" name="TextBox 6"/>
          <p:cNvSpPr txBox="1"/>
          <p:nvPr/>
        </p:nvSpPr>
        <p:spPr>
          <a:xfrm>
            <a:off x="457200" y="5212080"/>
            <a:ext cx="10972800" cy="731520"/>
          </a:xfrm>
          <a:prstGeom prst="rect">
            <a:avLst/>
          </a:prstGeom>
          <a:noFill/>
        </p:spPr>
        <p:txBody>
          <a:bodyPr wrap="square">
            <a:spAutoFit/>
          </a:bodyPr>
          <a:lstStyle/>
          <a:p>
            <a:r>
              <a:rPr sz="1000" b="1">
                <a:solidFill>
                  <a:srgbClr val="0C4A6E"/>
                </a:solidFill>
              </a:rPr>
              <a:t>Key: </a:t>
            </a:r>
            <a:r>
              <a:rPr sz="1000" b="0">
                <a:solidFill>
                  <a:srgbClr val="374151"/>
                </a:solidFill>
              </a:rPr>
              <a:t>3.4 delivers 23% lower TTFT and 57% higher throughput on same PD config. Tuning adds 39% TTFT reduction and 2.3x throughput via gpu_memory_utilization, max_num_seqs, and EPP optimization.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457200"/>
          </a:xfrm>
          <a:prstGeom prst="rect">
            <a:avLst/>
          </a:prstGeom>
          <a:noFill/>
        </p:spPr>
        <p:txBody>
          <a:bodyPr wrap="square">
            <a:spAutoFit/>
          </a:bodyPr>
          <a:lstStyle/>
          <a:p>
            <a:r>
              <a:rPr sz="2200" b="1">
                <a:solidFill>
                  <a:srgbClr val="0C4A6E"/>
                </a:solidFill>
              </a:rPr>
              <a:t>Llama-70B FP8 — 3.3 vs 3.4 Regression Results</a:t>
            </a:r>
          </a:p>
        </p:txBody>
      </p:sp>
      <p:sp>
        <p:nvSpPr>
          <p:cNvPr id="3" name="TextBox 2"/>
          <p:cNvSpPr txBox="1"/>
          <p:nvPr/>
        </p:nvSpPr>
        <p:spPr>
          <a:xfrm>
            <a:off x="457200" y="822960"/>
            <a:ext cx="10972800" cy="274320"/>
          </a:xfrm>
          <a:prstGeom prst="rect">
            <a:avLst/>
          </a:prstGeom>
          <a:noFill/>
        </p:spPr>
        <p:txBody>
          <a:bodyPr wrap="square">
            <a:spAutoFit/>
          </a:bodyPr>
          <a:lstStyle/>
          <a:p>
            <a:r>
              <a:rPr sz="1300" b="1">
                <a:solidFill>
                  <a:srgbClr val="374151"/>
                </a:solidFill>
              </a:rPr>
              <a:t>Prefill/Decode (3P+1D TP4 — same config across versions)</a:t>
            </a:r>
          </a:p>
        </p:txBody>
      </p:sp>
      <p:graphicFrame>
        <p:nvGraphicFramePr>
          <p:cNvPr id="4" name="Table 3"/>
          <p:cNvGraphicFramePr>
            <a:graphicFrameLocks noGrp="1"/>
          </p:cNvGraphicFramePr>
          <p:nvPr/>
        </p:nvGraphicFramePr>
        <p:xfrm>
          <a:off x="457200" y="1188720"/>
          <a:ext cx="8503920" cy="1828800"/>
        </p:xfrm>
        <a:graphic>
          <a:graphicData uri="http://schemas.openxmlformats.org/drawingml/2006/table">
            <a:tbl>
              <a:tblPr firstRow="1" bandRow="1">
                <a:tableStyleId>{5C22544A-7EE6-4342-B048-85BDC9FD1C3A}</a:tableStyleId>
              </a:tblPr>
              <a:tblGrid>
                <a:gridCol w="1371600"/>
                <a:gridCol w="1645920"/>
                <a:gridCol w="1645920"/>
                <a:gridCol w="1097280"/>
                <a:gridCol w="1645920"/>
                <a:gridCol w="1097280"/>
              </a:tblGrid>
              <a:tr h="365760">
                <a:tc>
                  <a:txBody>
                    <a:bodyPr wrap="square"/>
                    <a:lstStyle/>
                    <a:p>
                      <a:pPr algn="ctr"/>
                      <a:r>
                        <a:rPr sz="900" b="1">
                          <a:solidFill>
                            <a:srgbClr val="FFFFFF"/>
                          </a:solidFill>
                        </a:rPr>
                        <a:t>Metric</a:t>
                      </a:r>
                    </a:p>
                  </a:txBody>
                  <a:tcPr anchor="ctr">
                    <a:solidFill>
                      <a:srgbClr val="0c4a6e"/>
                    </a:solidFill>
                  </a:tcPr>
                </a:tc>
                <a:tc>
                  <a:txBody>
                    <a:bodyPr wrap="square"/>
                    <a:lstStyle/>
                    <a:p>
                      <a:pPr algn="ctr"/>
                      <a:r>
                        <a:rPr sz="900" b="1">
                          <a:solidFill>
                            <a:srgbClr val="FFFFFF"/>
                          </a:solidFill>
                        </a:rPr>
                        <a:t>RHAIIS 3.3</a:t>
                      </a:r>
                    </a:p>
                  </a:txBody>
                  <a:tcPr anchor="ctr">
                    <a:solidFill>
                      <a:srgbClr val="0c4a6e"/>
                    </a:solidFill>
                  </a:tcPr>
                </a:tc>
                <a:tc>
                  <a:txBody>
                    <a:bodyPr wrap="square"/>
                    <a:lstStyle/>
                    <a:p>
                      <a:pPr algn="ctr"/>
                      <a:r>
                        <a:rPr sz="900" b="1">
                          <a:solidFill>
                            <a:srgbClr val="FFFFFF"/>
                          </a:solidFill>
                        </a:rPr>
                        <a:t>RHAIIS 3.4</a:t>
                      </a:r>
                    </a:p>
                  </a:txBody>
                  <a:tcPr anchor="ctr">
                    <a:solidFill>
                      <a:srgbClr val="0c4a6e"/>
                    </a:solidFill>
                  </a:tcPr>
                </a:tc>
                <a:tc>
                  <a:txBody>
                    <a:bodyPr wrap="square"/>
                    <a:lstStyle/>
                    <a:p>
                      <a:pPr algn="ctr"/>
                      <a:r>
                        <a:rPr sz="900" b="1">
                          <a:solidFill>
                            <a:srgbClr val="FFFFFF"/>
                          </a:solidFill>
                        </a:rPr>
                        <a:t>Delta</a:t>
                      </a:r>
                    </a:p>
                  </a:txBody>
                  <a:tcPr anchor="ctr">
                    <a:solidFill>
                      <a:srgbClr val="0c4a6e"/>
                    </a:solidFill>
                  </a:tcPr>
                </a:tc>
                <a:tc>
                  <a:txBody>
                    <a:bodyPr wrap="square"/>
                    <a:lstStyle/>
                    <a:p>
                      <a:pPr algn="ctr"/>
                      <a:r>
                        <a:rPr sz="900" b="1">
                          <a:solidFill>
                            <a:srgbClr val="FFFFFF"/>
                          </a:solidFill>
                        </a:rPr>
                        <a:t>3.4 Tuned</a:t>
                      </a:r>
                    </a:p>
                  </a:txBody>
                  <a:tcPr anchor="ctr">
                    <a:solidFill>
                      <a:srgbClr val="0c4a6e"/>
                    </a:solidFill>
                  </a:tcPr>
                </a:tc>
                <a:tc>
                  <a:txBody>
                    <a:bodyPr wrap="square"/>
                    <a:lstStyle/>
                    <a:p>
                      <a:pPr algn="ctr"/>
                      <a:r>
                        <a:rPr sz="900" b="1">
                          <a:solidFill>
                            <a:srgbClr val="FFFFFF"/>
                          </a:solidFill>
                        </a:rPr>
                        <a:t>vs 3.3</a:t>
                      </a:r>
                    </a:p>
                  </a:txBody>
                  <a:tcPr anchor="ctr">
                    <a:solidFill>
                      <a:srgbClr val="0c4a6e"/>
                    </a:solidFill>
                  </a:tcPr>
                </a:tc>
              </a:tr>
              <a:tr h="365760">
                <a:tc>
                  <a:txBody>
                    <a:bodyPr wrap="square"/>
                    <a:lstStyle/>
                    <a:p>
                      <a:pPr algn="l"/>
                      <a:r>
                        <a:rPr sz="900" b="0"/>
                        <a:t>TTFT P90</a:t>
                      </a:r>
                    </a:p>
                  </a:txBody>
                  <a:tcPr anchor="ctr">
                    <a:solidFill>
                      <a:srgbClr val="ffffff"/>
                    </a:solidFill>
                  </a:tcPr>
                </a:tc>
                <a:tc>
                  <a:txBody>
                    <a:bodyPr wrap="square"/>
                    <a:lstStyle/>
                    <a:p>
                      <a:pPr algn="ctr"/>
                      <a:r>
                        <a:rPr sz="900" b="0"/>
                        <a:t>1,027 ms</a:t>
                      </a:r>
                    </a:p>
                  </a:txBody>
                  <a:tcPr anchor="ctr">
                    <a:solidFill>
                      <a:srgbClr val="ffffff"/>
                    </a:solidFill>
                  </a:tcPr>
                </a:tc>
                <a:tc>
                  <a:txBody>
                    <a:bodyPr wrap="square"/>
                    <a:lstStyle/>
                    <a:p>
                      <a:pPr algn="ctr"/>
                      <a:r>
                        <a:rPr sz="900" b="0"/>
                        <a:t>925 ms</a:t>
                      </a:r>
                    </a:p>
                  </a:txBody>
                  <a:tcPr anchor="ctr">
                    <a:solidFill>
                      <a:srgbClr val="ffffff"/>
                    </a:solidFill>
                  </a:tcPr>
                </a:tc>
                <a:tc>
                  <a:txBody>
                    <a:bodyPr wrap="square"/>
                    <a:lstStyle/>
                    <a:p>
                      <a:pPr algn="ctr"/>
                      <a:r>
                        <a:rPr sz="900" b="0"/>
                        <a:t>-9.9%</a:t>
                      </a:r>
                    </a:p>
                  </a:txBody>
                  <a:tcPr anchor="ctr">
                    <a:solidFill>
                      <a:srgbClr val="ffffff"/>
                    </a:solidFill>
                  </a:tcPr>
                </a:tc>
                <a:tc>
                  <a:txBody>
                    <a:bodyPr wrap="square"/>
                    <a:lstStyle/>
                    <a:p>
                      <a:pPr algn="ctr"/>
                      <a:r>
                        <a:rPr sz="900" b="0"/>
                        <a:t>681 ms</a:t>
                      </a:r>
                    </a:p>
                  </a:txBody>
                  <a:tcPr anchor="ctr">
                    <a:solidFill>
                      <a:srgbClr val="ffffff"/>
                    </a:solidFill>
                  </a:tcPr>
                </a:tc>
                <a:tc>
                  <a:txBody>
                    <a:bodyPr wrap="square"/>
                    <a:lstStyle/>
                    <a:p>
                      <a:pPr algn="ctr"/>
                      <a:r>
                        <a:rPr sz="900" b="0"/>
                        <a:t>-33.7%</a:t>
                      </a:r>
                    </a:p>
                  </a:txBody>
                  <a:tcPr anchor="ctr">
                    <a:solidFill>
                      <a:srgbClr val="ffffff"/>
                    </a:solidFill>
                  </a:tcPr>
                </a:tc>
              </a:tr>
              <a:tr h="365760">
                <a:tc>
                  <a:txBody>
                    <a:bodyPr wrap="square"/>
                    <a:lstStyle/>
                    <a:p>
                      <a:pPr algn="l"/>
                      <a:r>
                        <a:rPr sz="900" b="0"/>
                        <a:t>TTFT P99</a:t>
                      </a:r>
                    </a:p>
                  </a:txBody>
                  <a:tcPr anchor="ctr">
                    <a:solidFill>
                      <a:srgbClr val="f8fafc"/>
                    </a:solidFill>
                  </a:tcPr>
                </a:tc>
                <a:tc>
                  <a:txBody>
                    <a:bodyPr wrap="square"/>
                    <a:lstStyle/>
                    <a:p>
                      <a:pPr algn="ctr"/>
                      <a:r>
                        <a:rPr sz="900" b="0"/>
                        <a:t>2,093 ms</a:t>
                      </a:r>
                    </a:p>
                  </a:txBody>
                  <a:tcPr anchor="ctr">
                    <a:solidFill>
                      <a:srgbClr val="f8fafc"/>
                    </a:solidFill>
                  </a:tcPr>
                </a:tc>
                <a:tc>
                  <a:txBody>
                    <a:bodyPr wrap="square"/>
                    <a:lstStyle/>
                    <a:p>
                      <a:pPr algn="ctr"/>
                      <a:r>
                        <a:rPr sz="900" b="0"/>
                        <a:t>1,563 ms</a:t>
                      </a:r>
                    </a:p>
                  </a:txBody>
                  <a:tcPr anchor="ctr">
                    <a:solidFill>
                      <a:srgbClr val="f8fafc"/>
                    </a:solidFill>
                  </a:tcPr>
                </a:tc>
                <a:tc>
                  <a:txBody>
                    <a:bodyPr wrap="square"/>
                    <a:lstStyle/>
                    <a:p>
                      <a:pPr algn="ctr"/>
                      <a:r>
                        <a:rPr sz="900" b="0"/>
                        <a:t>-25.3%</a:t>
                      </a:r>
                    </a:p>
                  </a:txBody>
                  <a:tcPr anchor="ctr">
                    <a:solidFill>
                      <a:srgbClr val="f8fafc"/>
                    </a:solidFill>
                  </a:tcPr>
                </a:tc>
                <a:tc>
                  <a:txBody>
                    <a:bodyPr wrap="square"/>
                    <a:lstStyle/>
                    <a:p>
                      <a:pPr algn="ctr"/>
                      <a:r>
                        <a:rPr sz="900" b="0"/>
                        <a:t>2,272 ms</a:t>
                      </a:r>
                    </a:p>
                  </a:txBody>
                  <a:tcPr anchor="ctr">
                    <a:solidFill>
                      <a:srgbClr val="f8fafc"/>
                    </a:solidFill>
                  </a:tcPr>
                </a:tc>
                <a:tc>
                  <a:txBody>
                    <a:bodyPr wrap="square"/>
                    <a:lstStyle/>
                    <a:p>
                      <a:pPr algn="ctr"/>
                      <a:r>
                        <a:rPr sz="900" b="0"/>
                        <a:t>+8.6%</a:t>
                      </a:r>
                    </a:p>
                  </a:txBody>
                  <a:tcPr anchor="ctr">
                    <a:solidFill>
                      <a:srgbClr val="f8fafc"/>
                    </a:solidFill>
                  </a:tcPr>
                </a:tc>
              </a:tr>
              <a:tr h="365760">
                <a:tc>
                  <a:txBody>
                    <a:bodyPr wrap="square"/>
                    <a:lstStyle/>
                    <a:p>
                      <a:pPr algn="l"/>
                      <a:r>
                        <a:rPr sz="900" b="0"/>
                        <a:t>Throughput Mean</a:t>
                      </a:r>
                    </a:p>
                  </a:txBody>
                  <a:tcPr anchor="ctr">
                    <a:solidFill>
                      <a:srgbClr val="ffffff"/>
                    </a:solidFill>
                  </a:tcPr>
                </a:tc>
                <a:tc>
                  <a:txBody>
                    <a:bodyPr wrap="square"/>
                    <a:lstStyle/>
                    <a:p>
                      <a:pPr algn="ctr"/>
                      <a:r>
                        <a:rPr sz="900" b="0"/>
                        <a:t>16.5 req/s</a:t>
                      </a:r>
                    </a:p>
                  </a:txBody>
                  <a:tcPr anchor="ctr">
                    <a:solidFill>
                      <a:srgbClr val="ffffff"/>
                    </a:solidFill>
                  </a:tcPr>
                </a:tc>
                <a:tc>
                  <a:txBody>
                    <a:bodyPr wrap="square"/>
                    <a:lstStyle/>
                    <a:p>
                      <a:pPr algn="ctr"/>
                      <a:r>
                        <a:rPr sz="900" b="0"/>
                        <a:t>18.4 req/s</a:t>
                      </a:r>
                    </a:p>
                  </a:txBody>
                  <a:tcPr anchor="ctr">
                    <a:solidFill>
                      <a:srgbClr val="ffffff"/>
                    </a:solidFill>
                  </a:tcPr>
                </a:tc>
                <a:tc>
                  <a:txBody>
                    <a:bodyPr wrap="square"/>
                    <a:lstStyle/>
                    <a:p>
                      <a:pPr algn="ctr"/>
                      <a:r>
                        <a:rPr sz="900" b="0"/>
                        <a:t>+11.5%</a:t>
                      </a:r>
                    </a:p>
                  </a:txBody>
                  <a:tcPr anchor="ctr">
                    <a:solidFill>
                      <a:srgbClr val="ffffff"/>
                    </a:solidFill>
                  </a:tcPr>
                </a:tc>
                <a:tc>
                  <a:txBody>
                    <a:bodyPr wrap="square"/>
                    <a:lstStyle/>
                    <a:p>
                      <a:pPr algn="ctr"/>
                      <a:r>
                        <a:rPr sz="900" b="0"/>
                        <a:t>28.8 req/s</a:t>
                      </a:r>
                    </a:p>
                  </a:txBody>
                  <a:tcPr anchor="ctr">
                    <a:solidFill>
                      <a:srgbClr val="ffffff"/>
                    </a:solidFill>
                  </a:tcPr>
                </a:tc>
                <a:tc>
                  <a:txBody>
                    <a:bodyPr wrap="square"/>
                    <a:lstStyle/>
                    <a:p>
                      <a:pPr algn="ctr"/>
                      <a:r>
                        <a:rPr sz="900" b="0"/>
                        <a:t>+74.5%</a:t>
                      </a:r>
                    </a:p>
                  </a:txBody>
                  <a:tcPr anchor="ctr">
                    <a:solidFill>
                      <a:srgbClr val="ffffff"/>
                    </a:solidFill>
                  </a:tcPr>
                </a:tc>
              </a:tr>
              <a:tr h="365760">
                <a:tc>
                  <a:txBody>
                    <a:bodyPr wrap="square"/>
                    <a:lstStyle/>
                    <a:p>
                      <a:pPr algn="l"/>
                      <a:r>
                        <a:rPr sz="900" b="0"/>
                        <a:t>ITL P90</a:t>
                      </a:r>
                    </a:p>
                  </a:txBody>
                  <a:tcPr anchor="ctr">
                    <a:solidFill>
                      <a:srgbClr val="f8fafc"/>
                    </a:solidFill>
                  </a:tcPr>
                </a:tc>
                <a:tc>
                  <a:txBody>
                    <a:bodyPr wrap="square"/>
                    <a:lstStyle/>
                    <a:p>
                      <a:pPr algn="ctr"/>
                      <a:r>
                        <a:rPr sz="900" b="0"/>
                        <a:t>23.5 ms</a:t>
                      </a:r>
                    </a:p>
                  </a:txBody>
                  <a:tcPr anchor="ctr">
                    <a:solidFill>
                      <a:srgbClr val="f8fafc"/>
                    </a:solidFill>
                  </a:tcPr>
                </a:tc>
                <a:tc>
                  <a:txBody>
                    <a:bodyPr wrap="square"/>
                    <a:lstStyle/>
                    <a:p>
                      <a:pPr algn="ctr"/>
                      <a:r>
                        <a:rPr sz="900" b="0"/>
                        <a:t>17.7 ms</a:t>
                      </a:r>
                    </a:p>
                  </a:txBody>
                  <a:tcPr anchor="ctr">
                    <a:solidFill>
                      <a:srgbClr val="f8fafc"/>
                    </a:solidFill>
                  </a:tcPr>
                </a:tc>
                <a:tc>
                  <a:txBody>
                    <a:bodyPr wrap="square"/>
                    <a:lstStyle/>
                    <a:p>
                      <a:pPr algn="ctr"/>
                      <a:r>
                        <a:rPr sz="900" b="0"/>
                        <a:t>-24.7%</a:t>
                      </a:r>
                    </a:p>
                  </a:txBody>
                  <a:tcPr anchor="ctr">
                    <a:solidFill>
                      <a:srgbClr val="f8fafc"/>
                    </a:solidFill>
                  </a:tcPr>
                </a:tc>
                <a:tc>
                  <a:txBody>
                    <a:bodyPr wrap="square"/>
                    <a:lstStyle/>
                    <a:p>
                      <a:pPr algn="ctr"/>
                      <a:r>
                        <a:rPr sz="900" b="0"/>
                        <a:t>17.9 ms</a:t>
                      </a:r>
                    </a:p>
                  </a:txBody>
                  <a:tcPr anchor="ctr">
                    <a:solidFill>
                      <a:srgbClr val="f8fafc"/>
                    </a:solidFill>
                  </a:tcPr>
                </a:tc>
                <a:tc>
                  <a:txBody>
                    <a:bodyPr wrap="square"/>
                    <a:lstStyle/>
                    <a:p>
                      <a:pPr algn="ctr"/>
                      <a:r>
                        <a:rPr sz="900" b="0"/>
                        <a:t>-23.8%</a:t>
                      </a:r>
                    </a:p>
                  </a:txBody>
                  <a:tcPr anchor="ctr">
                    <a:solidFill>
                      <a:srgbClr val="f8fafc"/>
                    </a:solidFill>
                  </a:tcPr>
                </a:tc>
              </a:tr>
            </a:tbl>
          </a:graphicData>
        </a:graphic>
      </p:graphicFrame>
      <p:sp>
        <p:nvSpPr>
          <p:cNvPr id="5" name="TextBox 4"/>
          <p:cNvSpPr txBox="1"/>
          <p:nvPr/>
        </p:nvSpPr>
        <p:spPr>
          <a:xfrm>
            <a:off x="457200" y="3200400"/>
            <a:ext cx="10972800" cy="274320"/>
          </a:xfrm>
          <a:prstGeom prst="rect">
            <a:avLst/>
          </a:prstGeom>
          <a:noFill/>
        </p:spPr>
        <p:txBody>
          <a:bodyPr wrap="square">
            <a:spAutoFit/>
          </a:bodyPr>
          <a:lstStyle/>
          <a:p>
            <a:r>
              <a:rPr sz="1300" b="1">
                <a:solidFill>
                  <a:srgbClr val="374151"/>
                </a:solidFill>
              </a:rPr>
              <a:t>Aggregated — Same Config Comparison</a:t>
            </a:r>
          </a:p>
        </p:txBody>
      </p:sp>
      <p:graphicFrame>
        <p:nvGraphicFramePr>
          <p:cNvPr id="6" name="Table 5"/>
          <p:cNvGraphicFramePr>
            <a:graphicFrameLocks noGrp="1"/>
          </p:cNvGraphicFramePr>
          <p:nvPr/>
        </p:nvGraphicFramePr>
        <p:xfrm>
          <a:off x="457200" y="3566160"/>
          <a:ext cx="9144000" cy="1097280"/>
        </p:xfrm>
        <a:graphic>
          <a:graphicData uri="http://schemas.openxmlformats.org/drawingml/2006/table">
            <a:tbl>
              <a:tblPr firstRow="1" bandRow="1">
                <a:tableStyleId>{5C22544A-7EE6-4342-B048-85BDC9FD1C3A}</a:tableStyleId>
              </a:tblPr>
              <a:tblGrid>
                <a:gridCol w="1828800"/>
                <a:gridCol w="1828800"/>
                <a:gridCol w="1828800"/>
                <a:gridCol w="1828800"/>
                <a:gridCol w="1828800"/>
              </a:tblGrid>
              <a:tr h="365760">
                <a:tc>
                  <a:txBody>
                    <a:bodyPr wrap="square"/>
                    <a:lstStyle/>
                    <a:p>
                      <a:pPr algn="ctr"/>
                      <a:r>
                        <a:rPr sz="900" b="1">
                          <a:solidFill>
                            <a:srgbClr val="FFFFFF"/>
                          </a:solidFill>
                        </a:rPr>
                        <a:t>Config</a:t>
                      </a:r>
                    </a:p>
                  </a:txBody>
                  <a:tcPr anchor="ctr">
                    <a:solidFill>
                      <a:srgbClr val="0c4a6e"/>
                    </a:solidFill>
                  </a:tcPr>
                </a:tc>
                <a:tc>
                  <a:txBody>
                    <a:bodyPr wrap="square"/>
                    <a:lstStyle/>
                    <a:p>
                      <a:pPr algn="ctr"/>
                      <a:r>
                        <a:rPr sz="900" b="1">
                          <a:solidFill>
                            <a:srgbClr val="FFFFFF"/>
                          </a:solidFill>
                        </a:rPr>
                        <a:t>3.3 TTFT P90</a:t>
                      </a:r>
                    </a:p>
                  </a:txBody>
                  <a:tcPr anchor="ctr">
                    <a:solidFill>
                      <a:srgbClr val="0c4a6e"/>
                    </a:solidFill>
                  </a:tcPr>
                </a:tc>
                <a:tc>
                  <a:txBody>
                    <a:bodyPr wrap="square"/>
                    <a:lstStyle/>
                    <a:p>
                      <a:pPr algn="ctr"/>
                      <a:r>
                        <a:rPr sz="900" b="1">
                          <a:solidFill>
                            <a:srgbClr val="FFFFFF"/>
                          </a:solidFill>
                        </a:rPr>
                        <a:t>3.4 TTFT P90</a:t>
                      </a:r>
                    </a:p>
                  </a:txBody>
                  <a:tcPr anchor="ctr">
                    <a:solidFill>
                      <a:srgbClr val="0c4a6e"/>
                    </a:solidFill>
                  </a:tcPr>
                </a:tc>
                <a:tc>
                  <a:txBody>
                    <a:bodyPr wrap="square"/>
                    <a:lstStyle/>
                    <a:p>
                      <a:pPr algn="ctr"/>
                      <a:r>
                        <a:rPr sz="900" b="1">
                          <a:solidFill>
                            <a:srgbClr val="FFFFFF"/>
                          </a:solidFill>
                        </a:rPr>
                        <a:t>3.3 Throughput</a:t>
                      </a:r>
                    </a:p>
                  </a:txBody>
                  <a:tcPr anchor="ctr">
                    <a:solidFill>
                      <a:srgbClr val="0c4a6e"/>
                    </a:solidFill>
                  </a:tcPr>
                </a:tc>
                <a:tc>
                  <a:txBody>
                    <a:bodyPr wrap="square"/>
                    <a:lstStyle/>
                    <a:p>
                      <a:pPr algn="ctr"/>
                      <a:r>
                        <a:rPr sz="900" b="1">
                          <a:solidFill>
                            <a:srgbClr val="FFFFFF"/>
                          </a:solidFill>
                        </a:rPr>
                        <a:t>3.4 Throughput</a:t>
                      </a:r>
                    </a:p>
                  </a:txBody>
                  <a:tcPr anchor="ctr">
                    <a:solidFill>
                      <a:srgbClr val="0c4a6e"/>
                    </a:solidFill>
                  </a:tcPr>
                </a:tc>
              </a:tr>
              <a:tr h="365760">
                <a:tc>
                  <a:txBody>
                    <a:bodyPr wrap="square"/>
                    <a:lstStyle/>
                    <a:p>
                      <a:pPr algn="l"/>
                      <a:r>
                        <a:rPr sz="900" b="0"/>
                        <a:t>2x TP8 (best 3.3)</a:t>
                      </a:r>
                    </a:p>
                  </a:txBody>
                  <a:tcPr anchor="ctr">
                    <a:solidFill>
                      <a:srgbClr val="ffffff"/>
                    </a:solidFill>
                  </a:tcPr>
                </a:tc>
                <a:tc>
                  <a:txBody>
                    <a:bodyPr wrap="square"/>
                    <a:lstStyle/>
                    <a:p>
                      <a:pPr algn="ctr"/>
                      <a:r>
                        <a:rPr sz="900" b="0"/>
                        <a:t>831 ms</a:t>
                      </a:r>
                    </a:p>
                  </a:txBody>
                  <a:tcPr anchor="ctr">
                    <a:solidFill>
                      <a:srgbClr val="ffffff"/>
                    </a:solidFill>
                  </a:tcPr>
                </a:tc>
                <a:tc>
                  <a:txBody>
                    <a:bodyPr wrap="square"/>
                    <a:lstStyle/>
                    <a:p>
                      <a:pPr algn="ctr"/>
                      <a:r>
                        <a:rPr sz="900" b="0"/>
                        <a:t>1,292 ms (+55.5%)</a:t>
                      </a:r>
                    </a:p>
                  </a:txBody>
                  <a:tcPr anchor="ctr">
                    <a:solidFill>
                      <a:srgbClr val="ffffff"/>
                    </a:solidFill>
                  </a:tcPr>
                </a:tc>
                <a:tc>
                  <a:txBody>
                    <a:bodyPr wrap="square"/>
                    <a:lstStyle/>
                    <a:p>
                      <a:pPr algn="ctr"/>
                      <a:r>
                        <a:rPr sz="900" b="0"/>
                        <a:t>8.7 req/s</a:t>
                      </a:r>
                    </a:p>
                  </a:txBody>
                  <a:tcPr anchor="ctr">
                    <a:solidFill>
                      <a:srgbClr val="ffffff"/>
                    </a:solidFill>
                  </a:tcPr>
                </a:tc>
                <a:tc>
                  <a:txBody>
                    <a:bodyPr wrap="square"/>
                    <a:lstStyle/>
                    <a:p>
                      <a:pPr algn="ctr"/>
                      <a:r>
                        <a:rPr sz="900" b="0"/>
                        <a:t>3.1 req/s (-64.4%)</a:t>
                      </a:r>
                    </a:p>
                  </a:txBody>
                  <a:tcPr anchor="ctr">
                    <a:solidFill>
                      <a:srgbClr val="ffffff"/>
                    </a:solidFill>
                  </a:tcPr>
                </a:tc>
              </a:tr>
              <a:tr h="365760">
                <a:tc>
                  <a:txBody>
                    <a:bodyPr wrap="square"/>
                    <a:lstStyle/>
                    <a:p>
                      <a:pPr algn="l"/>
                      <a:r>
                        <a:rPr sz="900" b="0"/>
                        <a:t>2x TP8 (3.4 tuned)</a:t>
                      </a:r>
                    </a:p>
                  </a:txBody>
                  <a:tcPr anchor="ctr">
                    <a:solidFill>
                      <a:srgbClr val="f8fafc"/>
                    </a:solidFill>
                  </a:tcPr>
                </a:tc>
                <a:tc>
                  <a:txBody>
                    <a:bodyPr wrap="square"/>
                    <a:lstStyle/>
                    <a:p>
                      <a:pPr algn="ctr"/>
                      <a:r>
                        <a:rPr sz="900" b="0"/>
                        <a:t/>
                      </a:r>
                    </a:p>
                  </a:txBody>
                  <a:tcPr anchor="ctr">
                    <a:solidFill>
                      <a:srgbClr val="f8fafc"/>
                    </a:solidFill>
                  </a:tcPr>
                </a:tc>
                <a:tc>
                  <a:txBody>
                    <a:bodyPr wrap="square"/>
                    <a:lstStyle/>
                    <a:p>
                      <a:pPr algn="ctr"/>
                      <a:r>
                        <a:rPr sz="900" b="0"/>
                        <a:t>463 ms (-44.3%)</a:t>
                      </a:r>
                    </a:p>
                  </a:txBody>
                  <a:tcPr anchor="ctr">
                    <a:solidFill>
                      <a:srgbClr val="f8fafc"/>
                    </a:solidFill>
                  </a:tcPr>
                </a:tc>
                <a:tc>
                  <a:txBody>
                    <a:bodyPr wrap="square"/>
                    <a:lstStyle/>
                    <a:p>
                      <a:pPr algn="ctr"/>
                      <a:r>
                        <a:rPr sz="900" b="0"/>
                        <a:t/>
                      </a:r>
                    </a:p>
                  </a:txBody>
                  <a:tcPr anchor="ctr">
                    <a:solidFill>
                      <a:srgbClr val="f8fafc"/>
                    </a:solidFill>
                  </a:tcPr>
                </a:tc>
                <a:tc>
                  <a:txBody>
                    <a:bodyPr wrap="square"/>
                    <a:lstStyle/>
                    <a:p>
                      <a:pPr algn="ctr"/>
                      <a:r>
                        <a:rPr sz="900" b="0"/>
                        <a:t>21.1 req/s (+142.5%)</a:t>
                      </a:r>
                    </a:p>
                  </a:txBody>
                  <a:tcPr anchor="ctr">
                    <a:solidFill>
                      <a:srgbClr val="f8fafc"/>
                    </a:solidFill>
                  </a:tcPr>
                </a:tc>
              </a:tr>
            </a:tbl>
          </a:graphicData>
        </a:graphic>
      </p:graphicFrame>
      <p:sp>
        <p:nvSpPr>
          <p:cNvPr id="7" name="TextBox 6"/>
          <p:cNvSpPr txBox="1"/>
          <p:nvPr/>
        </p:nvSpPr>
        <p:spPr>
          <a:xfrm>
            <a:off x="457200" y="4846320"/>
            <a:ext cx="10972800" cy="914400"/>
          </a:xfrm>
          <a:prstGeom prst="rect">
            <a:avLst/>
          </a:prstGeom>
          <a:noFill/>
        </p:spPr>
        <p:txBody>
          <a:bodyPr wrap="square">
            <a:spAutoFit/>
          </a:bodyPr>
          <a:lstStyle/>
          <a:p>
            <a:r>
              <a:rPr sz="1000" b="1">
                <a:solidFill>
                  <a:srgbClr val="0C4A6E"/>
                </a:solidFill>
              </a:rPr>
              <a:t>Key: </a:t>
            </a:r>
            <a:r>
              <a:rPr sz="1000" b="0">
                <a:solidFill>
                  <a:srgbClr val="374151"/>
                </a:solidFill>
              </a:rPr>
              <a:t>PD improved 10% TTFT in 3.4. Aggregated TP8 </a:t>
            </a:r>
            <a:r>
              <a:rPr sz="1000" b="1">
                <a:solidFill>
                  <a:srgbClr val="991B1B"/>
                </a:solidFill>
              </a:rPr>
              <a:t>regressed +55.5% </a:t>
            </a:r>
            <a:r>
              <a:rPr sz="1000" b="0">
                <a:solidFill>
                  <a:srgbClr val="374151"/>
                </a:solidFill>
              </a:rPr>
              <a:t>in 3.4 default but </a:t>
            </a:r>
            <a:r>
              <a:rPr sz="1000" b="1">
                <a:solidFill>
                  <a:srgbClr val="065F46"/>
                </a:solidFill>
              </a:rPr>
              <a:t>fully recovered to -44.3% below 3.3 baseline with tuning.</a:t>
            </a:r>
          </a:p>
          <a:p>
            <a:r>
              <a:rPr sz="900" b="0">
                <a:solidFill>
                  <a:srgbClr val="92400E"/>
                </a:solidFill>
              </a:rPr>
              <a:t>Note: P99 regressed with tuning (+8.6%) due to tail latency spikes at higher gpu_memory_utilization (0.95 vs 0.90).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457200"/>
          </a:xfrm>
          <a:prstGeom prst="rect">
            <a:avLst/>
          </a:prstGeom>
          <a:noFill/>
        </p:spPr>
        <p:txBody>
          <a:bodyPr wrap="square">
            <a:spAutoFit/>
          </a:bodyPr>
          <a:lstStyle/>
          <a:p>
            <a:r>
              <a:rPr sz="2200" b="1">
                <a:solidFill>
                  <a:srgbClr val="0C4A6E"/>
                </a:solidFill>
              </a:rPr>
              <a:t>Regression Summary</a:t>
            </a:r>
          </a:p>
        </p:txBody>
      </p:sp>
      <p:graphicFrame>
        <p:nvGraphicFramePr>
          <p:cNvPr id="3" name="Table 2"/>
          <p:cNvGraphicFramePr>
            <a:graphicFrameLocks noGrp="1"/>
          </p:cNvGraphicFramePr>
          <p:nvPr/>
        </p:nvGraphicFramePr>
        <p:xfrm>
          <a:off x="457200" y="822960"/>
          <a:ext cx="9144000" cy="2011680"/>
        </p:xfrm>
        <a:graphic>
          <a:graphicData uri="http://schemas.openxmlformats.org/drawingml/2006/table">
            <a:tbl>
              <a:tblPr firstRow="1" bandRow="1">
                <a:tableStyleId>{5C22544A-7EE6-4342-B048-85BDC9FD1C3A}</a:tableStyleId>
              </a:tblPr>
              <a:tblGrid>
                <a:gridCol w="2286000"/>
                <a:gridCol w="1371600"/>
                <a:gridCol w="1371600"/>
                <a:gridCol w="1371600"/>
                <a:gridCol w="1371600"/>
                <a:gridCol w="1371600"/>
              </a:tblGrid>
              <a:tr h="402336">
                <a:tc>
                  <a:txBody>
                    <a:bodyPr wrap="square"/>
                    <a:lstStyle/>
                    <a:p>
                      <a:pPr algn="ctr"/>
                      <a:r>
                        <a:rPr sz="900" b="1">
                          <a:solidFill>
                            <a:srgbClr val="FFFFFF"/>
                          </a:solidFill>
                        </a:rPr>
                        <a:t>Model + Config</a:t>
                      </a:r>
                    </a:p>
                  </a:txBody>
                  <a:tcPr anchor="ctr">
                    <a:solidFill>
                      <a:srgbClr val="0c4a6e"/>
                    </a:solidFill>
                  </a:tcPr>
                </a:tc>
                <a:tc>
                  <a:txBody>
                    <a:bodyPr wrap="square"/>
                    <a:lstStyle/>
                    <a:p>
                      <a:pPr algn="ctr"/>
                      <a:r>
                        <a:rPr sz="900" b="1">
                          <a:solidFill>
                            <a:srgbClr val="FFFFFF"/>
                          </a:solidFill>
                        </a:rPr>
                        <a:t>RHAIIS 3.3</a:t>
                      </a:r>
                    </a:p>
                  </a:txBody>
                  <a:tcPr anchor="ctr">
                    <a:solidFill>
                      <a:srgbClr val="0c4a6e"/>
                    </a:solidFill>
                  </a:tcPr>
                </a:tc>
                <a:tc>
                  <a:txBody>
                    <a:bodyPr wrap="square"/>
                    <a:lstStyle/>
                    <a:p>
                      <a:pPr algn="ctr"/>
                      <a:r>
                        <a:rPr sz="900" b="1">
                          <a:solidFill>
                            <a:srgbClr val="FFFFFF"/>
                          </a:solidFill>
                        </a:rPr>
                        <a:t>RHAIIS 3.4</a:t>
                      </a:r>
                    </a:p>
                  </a:txBody>
                  <a:tcPr anchor="ctr">
                    <a:solidFill>
                      <a:srgbClr val="0c4a6e"/>
                    </a:solidFill>
                  </a:tcPr>
                </a:tc>
                <a:tc>
                  <a:txBody>
                    <a:bodyPr wrap="square"/>
                    <a:lstStyle/>
                    <a:p>
                      <a:pPr algn="ctr"/>
                      <a:r>
                        <a:rPr sz="900" b="1">
                          <a:solidFill>
                            <a:srgbClr val="FFFFFF"/>
                          </a:solidFill>
                        </a:rPr>
                        <a:t>3.3 vs 3.4</a:t>
                      </a:r>
                    </a:p>
                  </a:txBody>
                  <a:tcPr anchor="ctr">
                    <a:solidFill>
                      <a:srgbClr val="0c4a6e"/>
                    </a:solidFill>
                  </a:tcPr>
                </a:tc>
                <a:tc>
                  <a:txBody>
                    <a:bodyPr wrap="square"/>
                    <a:lstStyle/>
                    <a:p>
                      <a:pPr algn="ctr"/>
                      <a:r>
                        <a:rPr sz="900" b="1">
                          <a:solidFill>
                            <a:srgbClr val="FFFFFF"/>
                          </a:solidFill>
                        </a:rPr>
                        <a:t>3.4 Tuned</a:t>
                      </a:r>
                    </a:p>
                  </a:txBody>
                  <a:tcPr anchor="ctr">
                    <a:solidFill>
                      <a:srgbClr val="0c4a6e"/>
                    </a:solidFill>
                  </a:tcPr>
                </a:tc>
                <a:tc>
                  <a:txBody>
                    <a:bodyPr wrap="square"/>
                    <a:lstStyle/>
                    <a:p>
                      <a:pPr algn="ctr"/>
                      <a:r>
                        <a:rPr sz="900" b="1">
                          <a:solidFill>
                            <a:srgbClr val="FFFFFF"/>
                          </a:solidFill>
                        </a:rPr>
                        <a:t>3.3 vs Tuned</a:t>
                      </a:r>
                    </a:p>
                  </a:txBody>
                  <a:tcPr anchor="ctr">
                    <a:solidFill>
                      <a:srgbClr val="0c4a6e"/>
                    </a:solidFill>
                  </a:tcPr>
                </a:tc>
              </a:tr>
              <a:tr h="402336">
                <a:tc>
                  <a:txBody>
                    <a:bodyPr wrap="square"/>
                    <a:lstStyle/>
                    <a:p>
                      <a:pPr algn="l"/>
                      <a:r>
                        <a:rPr sz="900" b="0">
                          <a:solidFill>
                            <a:srgbClr val="374151"/>
                          </a:solidFill>
                        </a:rPr>
                        <a:t>Qwen PD (3P+1D TP4)</a:t>
                      </a:r>
                    </a:p>
                  </a:txBody>
                  <a:tcPr anchor="ctr">
                    <a:solidFill>
                      <a:srgbClr val="ffffff"/>
                    </a:solidFill>
                  </a:tcPr>
                </a:tc>
                <a:tc>
                  <a:txBody>
                    <a:bodyPr wrap="square"/>
                    <a:lstStyle/>
                    <a:p>
                      <a:pPr algn="ctr"/>
                      <a:r>
                        <a:rPr sz="900" b="0">
                          <a:solidFill>
                            <a:srgbClr val="374151"/>
                          </a:solidFill>
                        </a:rPr>
                        <a:t>880 ms</a:t>
                      </a:r>
                    </a:p>
                  </a:txBody>
                  <a:tcPr anchor="ctr">
                    <a:solidFill>
                      <a:srgbClr val="ffffff"/>
                    </a:solidFill>
                  </a:tcPr>
                </a:tc>
                <a:tc>
                  <a:txBody>
                    <a:bodyPr wrap="square"/>
                    <a:lstStyle/>
                    <a:p>
                      <a:pPr algn="ctr"/>
                      <a:r>
                        <a:rPr sz="900" b="0">
                          <a:solidFill>
                            <a:srgbClr val="374151"/>
                          </a:solidFill>
                        </a:rPr>
                        <a:t>675 ms</a:t>
                      </a:r>
                    </a:p>
                  </a:txBody>
                  <a:tcPr anchor="ctr">
                    <a:solidFill>
                      <a:srgbClr val="ffffff"/>
                    </a:solidFill>
                  </a:tcPr>
                </a:tc>
                <a:tc>
                  <a:txBody>
                    <a:bodyPr wrap="square"/>
                    <a:lstStyle/>
                    <a:p>
                      <a:pPr algn="ctr"/>
                      <a:r>
                        <a:rPr sz="900" b="1">
                          <a:solidFill>
                            <a:srgbClr val="065F46"/>
                          </a:solidFill>
                        </a:rPr>
                        <a:t>-23%</a:t>
                      </a:r>
                    </a:p>
                  </a:txBody>
                  <a:tcPr anchor="ctr">
                    <a:solidFill>
                      <a:srgbClr val="ffffff"/>
                    </a:solidFill>
                  </a:tcPr>
                </a:tc>
                <a:tc>
                  <a:txBody>
                    <a:bodyPr wrap="square"/>
                    <a:lstStyle/>
                    <a:p>
                      <a:pPr algn="ctr"/>
                      <a:r>
                        <a:rPr sz="900" b="1">
                          <a:solidFill>
                            <a:srgbClr val="374151"/>
                          </a:solidFill>
                        </a:rPr>
                        <a:t>534 ms</a:t>
                      </a:r>
                    </a:p>
                  </a:txBody>
                  <a:tcPr anchor="ctr">
                    <a:solidFill>
                      <a:srgbClr val="ffffff"/>
                    </a:solidFill>
                  </a:tcPr>
                </a:tc>
                <a:tc>
                  <a:txBody>
                    <a:bodyPr wrap="square"/>
                    <a:lstStyle/>
                    <a:p>
                      <a:pPr algn="ctr"/>
                      <a:r>
                        <a:rPr sz="900" b="1">
                          <a:solidFill>
                            <a:srgbClr val="065F46"/>
                          </a:solidFill>
                        </a:rPr>
                        <a:t>-39%</a:t>
                      </a:r>
                    </a:p>
                  </a:txBody>
                  <a:tcPr anchor="ctr">
                    <a:solidFill>
                      <a:srgbClr val="ffffff"/>
                    </a:solidFill>
                  </a:tcPr>
                </a:tc>
              </a:tr>
              <a:tr h="402336">
                <a:tc>
                  <a:txBody>
                    <a:bodyPr wrap="square"/>
                    <a:lstStyle/>
                    <a:p>
                      <a:pPr algn="l"/>
                      <a:r>
                        <a:rPr sz="900" b="0">
                          <a:solidFill>
                            <a:srgbClr val="374151"/>
                          </a:solidFill>
                        </a:rPr>
                        <a:t>Qwen Agg (4xTP4)</a:t>
                      </a:r>
                    </a:p>
                  </a:txBody>
                  <a:tcPr anchor="ctr">
                    <a:solidFill>
                      <a:srgbClr val="f8fafc"/>
                    </a:solidFill>
                  </a:tcPr>
                </a:tc>
                <a:tc>
                  <a:txBody>
                    <a:bodyPr wrap="square"/>
                    <a:lstStyle/>
                    <a:p>
                      <a:pPr algn="ctr"/>
                      <a:r>
                        <a:rPr sz="900" b="0">
                          <a:solidFill>
                            <a:srgbClr val="374151"/>
                          </a:solidFill>
                        </a:rPr>
                        <a:t>1,177 ms</a:t>
                      </a:r>
                    </a:p>
                  </a:txBody>
                  <a:tcPr anchor="ctr">
                    <a:solidFill>
                      <a:srgbClr val="f8fafc"/>
                    </a:solidFill>
                  </a:tcPr>
                </a:tc>
                <a:tc>
                  <a:txBody>
                    <a:bodyPr wrap="square"/>
                    <a:lstStyle/>
                    <a:p>
                      <a:pPr algn="ctr"/>
                      <a:r>
                        <a:rPr sz="900" b="0">
                          <a:solidFill>
                            <a:srgbClr val="374151"/>
                          </a:solidFill>
                        </a:rPr>
                        <a:t>1,162 ms</a:t>
                      </a:r>
                    </a:p>
                  </a:txBody>
                  <a:tcPr anchor="ctr">
                    <a:solidFill>
                      <a:srgbClr val="f8fafc"/>
                    </a:solidFill>
                  </a:tcPr>
                </a:tc>
                <a:tc>
                  <a:txBody>
                    <a:bodyPr wrap="square"/>
                    <a:lstStyle/>
                    <a:p>
                      <a:pPr algn="ctr"/>
                      <a:r>
                        <a:rPr sz="900" b="1">
                          <a:solidFill>
                            <a:srgbClr val="065F46"/>
                          </a:solidFill>
                        </a:rPr>
                        <a:t>-1%</a:t>
                      </a:r>
                    </a:p>
                  </a:txBody>
                  <a:tcPr anchor="ctr">
                    <a:solidFill>
                      <a:srgbClr val="f8fafc"/>
                    </a:solidFill>
                  </a:tcPr>
                </a:tc>
                <a:tc>
                  <a:txBody>
                    <a:bodyPr wrap="square"/>
                    <a:lstStyle/>
                    <a:p>
                      <a:pPr algn="ctr"/>
                      <a:r>
                        <a:rPr sz="900" b="1">
                          <a:solidFill>
                            <a:srgbClr val="374151"/>
                          </a:solidFill>
                        </a:rPr>
                        <a:t>524 ms</a:t>
                      </a:r>
                    </a:p>
                  </a:txBody>
                  <a:tcPr anchor="ctr">
                    <a:solidFill>
                      <a:srgbClr val="f8fafc"/>
                    </a:solidFill>
                  </a:tcPr>
                </a:tc>
                <a:tc>
                  <a:txBody>
                    <a:bodyPr wrap="square"/>
                    <a:lstStyle/>
                    <a:p>
                      <a:pPr algn="ctr"/>
                      <a:r>
                        <a:rPr sz="900" b="1">
                          <a:solidFill>
                            <a:srgbClr val="065F46"/>
                          </a:solidFill>
                        </a:rPr>
                        <a:t>-56%</a:t>
                      </a:r>
                    </a:p>
                  </a:txBody>
                  <a:tcPr anchor="ctr">
                    <a:solidFill>
                      <a:srgbClr val="f8fafc"/>
                    </a:solidFill>
                  </a:tcPr>
                </a:tc>
              </a:tr>
              <a:tr h="402336">
                <a:tc>
                  <a:txBody>
                    <a:bodyPr wrap="square"/>
                    <a:lstStyle/>
                    <a:p>
                      <a:pPr algn="l"/>
                      <a:r>
                        <a:rPr sz="900" b="0">
                          <a:solidFill>
                            <a:srgbClr val="374151"/>
                          </a:solidFill>
                        </a:rPr>
                        <a:t>Llama PD (3P+1D TP4)</a:t>
                      </a:r>
                    </a:p>
                  </a:txBody>
                  <a:tcPr anchor="ctr">
                    <a:solidFill>
                      <a:srgbClr val="ffffff"/>
                    </a:solidFill>
                  </a:tcPr>
                </a:tc>
                <a:tc>
                  <a:txBody>
                    <a:bodyPr wrap="square"/>
                    <a:lstStyle/>
                    <a:p>
                      <a:pPr algn="ctr"/>
                      <a:r>
                        <a:rPr sz="900" b="0">
                          <a:solidFill>
                            <a:srgbClr val="374151"/>
                          </a:solidFill>
                        </a:rPr>
                        <a:t>1,027 ms</a:t>
                      </a:r>
                    </a:p>
                  </a:txBody>
                  <a:tcPr anchor="ctr">
                    <a:solidFill>
                      <a:srgbClr val="ffffff"/>
                    </a:solidFill>
                  </a:tcPr>
                </a:tc>
                <a:tc>
                  <a:txBody>
                    <a:bodyPr wrap="square"/>
                    <a:lstStyle/>
                    <a:p>
                      <a:pPr algn="ctr"/>
                      <a:r>
                        <a:rPr sz="900" b="0">
                          <a:solidFill>
                            <a:srgbClr val="374151"/>
                          </a:solidFill>
                        </a:rPr>
                        <a:t>925 ms</a:t>
                      </a:r>
                    </a:p>
                  </a:txBody>
                  <a:tcPr anchor="ctr">
                    <a:solidFill>
                      <a:srgbClr val="ffffff"/>
                    </a:solidFill>
                  </a:tcPr>
                </a:tc>
                <a:tc>
                  <a:txBody>
                    <a:bodyPr wrap="square"/>
                    <a:lstStyle/>
                    <a:p>
                      <a:pPr algn="ctr"/>
                      <a:r>
                        <a:rPr sz="900" b="1">
                          <a:solidFill>
                            <a:srgbClr val="065F46"/>
                          </a:solidFill>
                        </a:rPr>
                        <a:t>-10%</a:t>
                      </a:r>
                    </a:p>
                  </a:txBody>
                  <a:tcPr anchor="ctr">
                    <a:solidFill>
                      <a:srgbClr val="ffffff"/>
                    </a:solidFill>
                  </a:tcPr>
                </a:tc>
                <a:tc>
                  <a:txBody>
                    <a:bodyPr wrap="square"/>
                    <a:lstStyle/>
                    <a:p>
                      <a:pPr algn="ctr"/>
                      <a:r>
                        <a:rPr sz="900" b="1">
                          <a:solidFill>
                            <a:srgbClr val="374151"/>
                          </a:solidFill>
                        </a:rPr>
                        <a:t>681 ms</a:t>
                      </a:r>
                    </a:p>
                  </a:txBody>
                  <a:tcPr anchor="ctr">
                    <a:solidFill>
                      <a:srgbClr val="ffffff"/>
                    </a:solidFill>
                  </a:tcPr>
                </a:tc>
                <a:tc>
                  <a:txBody>
                    <a:bodyPr wrap="square"/>
                    <a:lstStyle/>
                    <a:p>
                      <a:pPr algn="ctr"/>
                      <a:r>
                        <a:rPr sz="900" b="1">
                          <a:solidFill>
                            <a:srgbClr val="065F46"/>
                          </a:solidFill>
                        </a:rPr>
                        <a:t>-34%</a:t>
                      </a:r>
                    </a:p>
                  </a:txBody>
                  <a:tcPr anchor="ctr">
                    <a:solidFill>
                      <a:srgbClr val="ffffff"/>
                    </a:solidFill>
                  </a:tcPr>
                </a:tc>
              </a:tr>
              <a:tr h="402336">
                <a:tc>
                  <a:txBody>
                    <a:bodyPr wrap="square"/>
                    <a:lstStyle/>
                    <a:p>
                      <a:pPr algn="l"/>
                      <a:r>
                        <a:rPr sz="900" b="0">
                          <a:solidFill>
                            <a:srgbClr val="374151"/>
                          </a:solidFill>
                        </a:rPr>
                        <a:t>Llama Agg (2xTP8)</a:t>
                      </a:r>
                    </a:p>
                  </a:txBody>
                  <a:tcPr anchor="ctr">
                    <a:solidFill>
                      <a:srgbClr val="f8fafc"/>
                    </a:solidFill>
                  </a:tcPr>
                </a:tc>
                <a:tc>
                  <a:txBody>
                    <a:bodyPr wrap="square"/>
                    <a:lstStyle/>
                    <a:p>
                      <a:pPr algn="ctr"/>
                      <a:r>
                        <a:rPr sz="900" b="0">
                          <a:solidFill>
                            <a:srgbClr val="374151"/>
                          </a:solidFill>
                        </a:rPr>
                        <a:t>831 ms</a:t>
                      </a:r>
                    </a:p>
                  </a:txBody>
                  <a:tcPr anchor="ctr">
                    <a:solidFill>
                      <a:srgbClr val="f8fafc"/>
                    </a:solidFill>
                  </a:tcPr>
                </a:tc>
                <a:tc>
                  <a:txBody>
                    <a:bodyPr wrap="square"/>
                    <a:lstStyle/>
                    <a:p>
                      <a:pPr algn="ctr"/>
                      <a:r>
                        <a:rPr sz="900" b="0">
                          <a:solidFill>
                            <a:srgbClr val="374151"/>
                          </a:solidFill>
                        </a:rPr>
                        <a:t>1,292 ms</a:t>
                      </a:r>
                    </a:p>
                  </a:txBody>
                  <a:tcPr anchor="ctr">
                    <a:solidFill>
                      <a:srgbClr val="f8fafc"/>
                    </a:solidFill>
                  </a:tcPr>
                </a:tc>
                <a:tc>
                  <a:txBody>
                    <a:bodyPr wrap="square"/>
                    <a:lstStyle/>
                    <a:p>
                      <a:pPr algn="ctr"/>
                      <a:r>
                        <a:rPr sz="900" b="1">
                          <a:solidFill>
                            <a:srgbClr val="991B1B"/>
                          </a:solidFill>
                        </a:rPr>
                        <a:t>+55%</a:t>
                      </a:r>
                    </a:p>
                  </a:txBody>
                  <a:tcPr anchor="ctr">
                    <a:solidFill>
                      <a:srgbClr val="f8fafc"/>
                    </a:solidFill>
                  </a:tcPr>
                </a:tc>
                <a:tc>
                  <a:txBody>
                    <a:bodyPr wrap="square"/>
                    <a:lstStyle/>
                    <a:p>
                      <a:pPr algn="ctr"/>
                      <a:r>
                        <a:rPr sz="900" b="1">
                          <a:solidFill>
                            <a:srgbClr val="374151"/>
                          </a:solidFill>
                        </a:rPr>
                        <a:t>463 ms</a:t>
                      </a:r>
                    </a:p>
                  </a:txBody>
                  <a:tcPr anchor="ctr">
                    <a:solidFill>
                      <a:srgbClr val="f8fafc"/>
                    </a:solidFill>
                  </a:tcPr>
                </a:tc>
                <a:tc>
                  <a:txBody>
                    <a:bodyPr wrap="square"/>
                    <a:lstStyle/>
                    <a:p>
                      <a:pPr algn="ctr"/>
                      <a:r>
                        <a:rPr sz="900" b="1">
                          <a:solidFill>
                            <a:srgbClr val="065F46"/>
                          </a:solidFill>
                        </a:rPr>
                        <a:t>-44%</a:t>
                      </a:r>
                    </a:p>
                  </a:txBody>
                  <a:tcPr anchor="ctr">
                    <a:solidFill>
                      <a:srgbClr val="f8fafc"/>
                    </a:solidFill>
                  </a:tcPr>
                </a:tc>
              </a:tr>
            </a:tbl>
          </a:graphicData>
        </a:graphic>
      </p:graphicFrame>
      <p:sp>
        <p:nvSpPr>
          <p:cNvPr id="4" name="TextBox 3"/>
          <p:cNvSpPr txBox="1"/>
          <p:nvPr/>
        </p:nvSpPr>
        <p:spPr>
          <a:xfrm>
            <a:off x="457200" y="3017520"/>
            <a:ext cx="10972800" cy="274320"/>
          </a:xfrm>
          <a:prstGeom prst="rect">
            <a:avLst/>
          </a:prstGeom>
          <a:noFill/>
        </p:spPr>
        <p:txBody>
          <a:bodyPr wrap="square">
            <a:spAutoFit/>
          </a:bodyPr>
          <a:lstStyle/>
          <a:p>
            <a:r>
              <a:rPr sz="1400" b="1">
                <a:solidFill>
                  <a:srgbClr val="0C4A6E"/>
                </a:solidFill>
              </a:rPr>
              <a:t>Key Takeaways</a:t>
            </a:r>
          </a:p>
        </p:txBody>
      </p:sp>
      <p:sp>
        <p:nvSpPr>
          <p:cNvPr id="5" name="TextBox 4"/>
          <p:cNvSpPr txBox="1"/>
          <p:nvPr/>
        </p:nvSpPr>
        <p:spPr>
          <a:xfrm>
            <a:off x="457200" y="3383280"/>
            <a:ext cx="10972800" cy="2286000"/>
          </a:xfrm>
          <a:prstGeom prst="rect">
            <a:avLst/>
          </a:prstGeom>
          <a:noFill/>
        </p:spPr>
        <p:txBody>
          <a:bodyPr wrap="square">
            <a:spAutoFit/>
          </a:bodyPr>
          <a:lstStyle/>
          <a:p>
            <a:r>
              <a:rPr sz="1100" b="1">
                <a:solidFill>
                  <a:srgbClr val="374151"/>
                </a:solidFill>
              </a:rPr>
              <a:t>• PD consistently improves in 3.4</a:t>
            </a:r>
            <a:r>
              <a:rPr sz="1100" b="0">
                <a:solidFill>
                  <a:srgbClr val="374151"/>
                </a:solidFill>
              </a:rPr>
              <a:t> — both models show 10-23% TTFT improvement on same config</a:t>
            </a:r>
          </a:p>
          <a:p>
            <a:pPr>
              <a:spcBef>
                <a:spcPts val="400"/>
              </a:spcBef>
            </a:pPr>
            <a:r>
              <a:rPr sz="1100" b="1">
                <a:solidFill>
                  <a:srgbClr val="374151"/>
                </a:solidFill>
              </a:rPr>
              <a:t>• Aggregated depends on TP + model</a:t>
            </a:r>
            <a:r>
              <a:rPr sz="1100" b="0">
                <a:solidFill>
                  <a:srgbClr val="374151"/>
                </a:solidFill>
              </a:rPr>
              <a:t> — Qwen improved across all TPs, Llama regressed at TP8 (+55%)</a:t>
            </a:r>
          </a:p>
          <a:p>
            <a:pPr>
              <a:spcBef>
                <a:spcPts val="400"/>
              </a:spcBef>
            </a:pPr>
            <a:r>
              <a:rPr sz="1100" b="1">
                <a:solidFill>
                  <a:srgbClr val="374151"/>
                </a:solidFill>
              </a:rPr>
              <a:t>• Tuning recovers all regressions</a:t>
            </a:r>
            <a:r>
              <a:rPr sz="1100" b="0">
                <a:solidFill>
                  <a:srgbClr val="374151"/>
                </a:solidFill>
              </a:rPr>
              <a:t> — Llama TP8 regression fully recovered to -44% below 3.3 baseline</a:t>
            </a:r>
          </a:p>
          <a:p>
            <a:pPr>
              <a:spcBef>
                <a:spcPts val="400"/>
              </a:spcBef>
            </a:pPr>
            <a:r>
              <a:rPr sz="1100" b="1">
                <a:solidFill>
                  <a:srgbClr val="374151"/>
                </a:solidFill>
              </a:rPr>
              <a:t>• Tuning adds 34-56% on top</a:t>
            </a:r>
            <a:r>
              <a:rPr sz="1100" b="0">
                <a:solidFill>
                  <a:srgbClr val="374151"/>
                </a:solidFill>
              </a:rPr>
              <a:t> — auto-profiling gpu_memory_utilization, max_num_seqs, block_size, EPP weights</a:t>
            </a:r>
          </a:p>
          <a:p>
            <a:pPr>
              <a:spcBef>
                <a:spcPts val="400"/>
              </a:spcBef>
            </a:pPr>
            <a:r>
              <a:rPr sz="1100" b="1">
                <a:solidFill>
                  <a:srgbClr val="374151"/>
                </a:solidFill>
              </a:rPr>
              <a:t>• Optimal config shifts between versions</a:t>
            </a:r>
            <a:r>
              <a:rPr sz="1100" b="0">
                <a:solidFill>
                  <a:srgbClr val="374151"/>
                </a:solidFill>
              </a:rPr>
              <a:t> — automated search is critical, manual 3.3 config may be suboptimal in 3.4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457200"/>
          </a:xfrm>
          <a:prstGeom prst="rect">
            <a:avLst/>
          </a:prstGeom>
          <a:noFill/>
        </p:spPr>
        <p:txBody>
          <a:bodyPr wrap="square">
            <a:spAutoFit/>
          </a:bodyPr>
          <a:lstStyle/>
          <a:p>
            <a:r>
              <a:rPr sz="2200" b="1">
                <a:solidFill>
                  <a:srgbClr val="0C4A6E"/>
                </a:solidFill>
              </a:rPr>
              <a:t>Issues Discovered &amp; Filed Upstream</a:t>
            </a:r>
          </a:p>
        </p:txBody>
      </p:sp>
      <p:sp>
        <p:nvSpPr>
          <p:cNvPr id="3" name="TextBox 2"/>
          <p:cNvSpPr txBox="1"/>
          <p:nvPr/>
        </p:nvSpPr>
        <p:spPr>
          <a:xfrm>
            <a:off x="457200" y="914400"/>
            <a:ext cx="10972800" cy="1371600"/>
          </a:xfrm>
          <a:prstGeom prst="rect">
            <a:avLst/>
          </a:prstGeom>
          <a:noFill/>
        </p:spPr>
        <p:txBody>
          <a:bodyPr wrap="square">
            <a:spAutoFit/>
          </a:bodyPr>
          <a:lstStyle/>
          <a:p>
            <a:r>
              <a:rPr sz="1600" b="1">
                <a:solidFill>
                  <a:srgbClr val="0C4A6E"/>
                </a:solidFill>
              </a:rPr>
              <a:t>Asymmetric TP (Prefill TP &gt; Decode TP)</a:t>
            </a:r>
          </a:p>
          <a:p>
            <a:pPr>
              <a:spcBef>
                <a:spcPts val="800"/>
              </a:spcBef>
            </a:pPr>
            <a:r>
              <a:rPr sz="1100" b="0">
                <a:solidFill>
                  <a:srgbClr val="374151"/>
                </a:solidFill>
              </a:rPr>
              <a:t>RHAIIS 3.4 enables testing configurations where prefill pods use more GPUs (higher TP) than decode pods. This allows dedicating more compute to the prefill-heavy first token generation while using fewer GPUs for the lighter decode phase.</a:t>
            </a:r>
          </a:p>
          <a:p>
            <a:pPr>
              <a:spcBef>
                <a:spcPts val="800"/>
              </a:spcBef>
            </a:pPr>
            <a:r>
              <a:rPr sz="1100" b="0">
                <a:solidFill>
                  <a:srgbClr val="374151"/>
                </a:solidFill>
              </a:rPr>
              <a:t>This was disabled for RHAIIS 3.3 (llm-d v0.4.0) due to NIXL KV transfer crashes with asymmetric TP. Inftune Studio now enables asymmetric TP by default for 3.4+ and automatically disables it for 3.3.</a:t>
            </a:r>
          </a:p>
        </p:txBody>
      </p:sp>
      <p:sp>
        <p:nvSpPr>
          <p:cNvPr id="4" name="TextBox 3"/>
          <p:cNvSpPr txBox="1"/>
          <p:nvPr/>
        </p:nvSpPr>
        <p:spPr>
          <a:xfrm>
            <a:off x="457200" y="2743200"/>
            <a:ext cx="10972800" cy="365760"/>
          </a:xfrm>
          <a:prstGeom prst="rect">
            <a:avLst/>
          </a:prstGeom>
          <a:noFill/>
        </p:spPr>
        <p:txBody>
          <a:bodyPr wrap="square">
            <a:spAutoFit/>
          </a:bodyPr>
          <a:lstStyle/>
          <a:p>
            <a:r>
              <a:rPr sz="1600" b="1">
                <a:solidFill>
                  <a:srgbClr val="0C4A6E"/>
                </a:solidFill>
              </a:rPr>
              <a:t>vLLM Issues Filed During Testing</a:t>
            </a:r>
          </a:p>
        </p:txBody>
      </p:sp>
      <p:graphicFrame>
        <p:nvGraphicFramePr>
          <p:cNvPr id="5" name="Table 4"/>
          <p:cNvGraphicFramePr>
            <a:graphicFrameLocks noGrp="1"/>
          </p:cNvGraphicFramePr>
          <p:nvPr/>
        </p:nvGraphicFramePr>
        <p:xfrm>
          <a:off x="457200" y="3200400"/>
          <a:ext cx="10972800" cy="1645920"/>
        </p:xfrm>
        <a:graphic>
          <a:graphicData uri="http://schemas.openxmlformats.org/drawingml/2006/table">
            <a:tbl>
              <a:tblPr firstRow="1" bandRow="1">
                <a:tableStyleId>{5C22544A-7EE6-4342-B048-85BDC9FD1C3A}</a:tableStyleId>
              </a:tblPr>
              <a:tblGrid>
                <a:gridCol w="1371600"/>
                <a:gridCol w="3200400"/>
                <a:gridCol w="6400800"/>
              </a:tblGrid>
              <a:tr h="411480">
                <a:tc>
                  <a:txBody>
                    <a:bodyPr wrap="square"/>
                    <a:lstStyle/>
                    <a:p>
                      <a:pPr algn="ctr"/>
                      <a:r>
                        <a:rPr sz="900" b="1">
                          <a:solidFill>
                            <a:srgbClr val="FFFFFF"/>
                          </a:solidFill>
                        </a:rPr>
                        <a:t>Issue</a:t>
                      </a:r>
                    </a:p>
                  </a:txBody>
                  <a:tcPr anchor="ctr">
                    <a:solidFill>
                      <a:srgbClr val="0c4a6e"/>
                    </a:solidFill>
                  </a:tcPr>
                </a:tc>
                <a:tc>
                  <a:txBody>
                    <a:bodyPr wrap="square"/>
                    <a:lstStyle/>
                    <a:p>
                      <a:pPr algn="ctr"/>
                      <a:r>
                        <a:rPr sz="900" b="1">
                          <a:solidFill>
                            <a:srgbClr val="FFFFFF"/>
                          </a:solidFill>
                        </a:rPr>
                        <a:t>Title</a:t>
                      </a:r>
                    </a:p>
                  </a:txBody>
                  <a:tcPr anchor="ctr">
                    <a:solidFill>
                      <a:srgbClr val="0c4a6e"/>
                    </a:solidFill>
                  </a:tcPr>
                </a:tc>
                <a:tc>
                  <a:txBody>
                    <a:bodyPr wrap="square"/>
                    <a:lstStyle/>
                    <a:p>
                      <a:pPr algn="ctr"/>
                      <a:r>
                        <a:rPr sz="900" b="1">
                          <a:solidFill>
                            <a:srgbClr val="FFFFFF"/>
                          </a:solidFill>
                        </a:rPr>
                        <a:t>Impact &amp; Workaround</a:t>
                      </a:r>
                    </a:p>
                  </a:txBody>
                  <a:tcPr anchor="ctr">
                    <a:solidFill>
                      <a:srgbClr val="0c4a6e"/>
                    </a:solidFill>
                  </a:tcPr>
                </a:tc>
              </a:tr>
              <a:tr h="411480">
                <a:tc>
                  <a:txBody>
                    <a:bodyPr wrap="square"/>
                    <a:lstStyle/>
                    <a:p>
                      <a:pPr algn="l"/>
                      <a:r>
                        <a:rPr sz="900" b="1">
                          <a:solidFill>
                            <a:srgbClr val="0C4A6E"/>
                          </a:solidFill>
                        </a:rPr>
                        <a:t>vllm#43396</a:t>
                      </a:r>
                    </a:p>
                  </a:txBody>
                  <a:tcPr anchor="ctr">
                    <a:solidFill>
                      <a:srgbClr val="ffffff"/>
                    </a:solidFill>
                  </a:tcPr>
                </a:tc>
                <a:tc>
                  <a:txBody>
                    <a:bodyPr wrap="square"/>
                    <a:lstStyle/>
                    <a:p>
                      <a:pPr algn="l"/>
                      <a:r>
                        <a:rPr sz="800" b="0"/>
                        <a:t>FP8 MoE CUTLASS OOB at batch 8192</a:t>
                      </a:r>
                    </a:p>
                  </a:txBody>
                  <a:tcPr anchor="ctr">
                    <a:solidFill>
                      <a:srgbClr val="ffffff"/>
                    </a:solidFill>
                  </a:tcPr>
                </a:tc>
                <a:tc>
                  <a:txBody>
                    <a:bodyPr wrap="square"/>
                    <a:lstStyle/>
                    <a:p>
                      <a:pPr algn="l"/>
                      <a:r>
                        <a:rPr sz="800" b="0"/>
                        <a:t>Runtime patch applied in Inftune Studio templates. Affects FP8 MoE models at high batch sizes.</a:t>
                      </a:r>
                    </a:p>
                  </a:txBody>
                  <a:tcPr anchor="ctr">
                    <a:solidFill>
                      <a:srgbClr val="ffffff"/>
                    </a:solidFill>
                  </a:tcPr>
                </a:tc>
              </a:tr>
              <a:tr h="411480">
                <a:tc>
                  <a:txBody>
                    <a:bodyPr wrap="square"/>
                    <a:lstStyle/>
                    <a:p>
                      <a:pPr algn="l"/>
                      <a:r>
                        <a:rPr sz="900" b="1">
                          <a:solidFill>
                            <a:srgbClr val="0C4A6E"/>
                          </a:solidFill>
                        </a:rPr>
                        <a:t>vllm#43398</a:t>
                      </a:r>
                    </a:p>
                  </a:txBody>
                  <a:tcPr anchor="ctr">
                    <a:solidFill>
                      <a:srgbClr val="f8fafc"/>
                    </a:solidFill>
                  </a:tcPr>
                </a:tc>
                <a:tc>
                  <a:txBody>
                    <a:bodyPr wrap="square"/>
                    <a:lstStyle/>
                    <a:p>
                      <a:pPr algn="l"/>
                      <a:r>
                        <a:rPr sz="800" b="0"/>
                        <a:t>NIXL KV transfer crash with asymmetric TP</a:t>
                      </a:r>
                    </a:p>
                  </a:txBody>
                  <a:tcPr anchor="ctr">
                    <a:solidFill>
                      <a:srgbClr val="f8fafc"/>
                    </a:solidFill>
                  </a:tcPr>
                </a:tc>
                <a:tc>
                  <a:txBody>
                    <a:bodyPr wrap="square"/>
                    <a:lstStyle/>
                    <a:p>
                      <a:pPr algn="l"/>
                      <a:r>
                        <a:rPr sz="800" b="0"/>
                        <a:t>Asymmetric TP disabled for llm-d v0.4.0. Enabled by default for v0.6.0+.</a:t>
                      </a:r>
                    </a:p>
                  </a:txBody>
                  <a:tcPr anchor="ctr">
                    <a:solidFill>
                      <a:srgbClr val="f8fafc"/>
                    </a:solidFill>
                  </a:tcPr>
                </a:tc>
              </a:tr>
              <a:tr h="411480">
                <a:tc>
                  <a:txBody>
                    <a:bodyPr wrap="square"/>
                    <a:lstStyle/>
                    <a:p>
                      <a:pPr algn="l"/>
                      <a:r>
                        <a:rPr sz="900" b="1">
                          <a:solidFill>
                            <a:srgbClr val="0C4A6E"/>
                          </a:solidFill>
                        </a:rPr>
                        <a:t>vllm#43523</a:t>
                      </a:r>
                    </a:p>
                  </a:txBody>
                  <a:tcPr anchor="ctr">
                    <a:solidFill>
                      <a:srgbClr val="ffffff"/>
                    </a:solidFill>
                  </a:tcPr>
                </a:tc>
                <a:tc>
                  <a:txBody>
                    <a:bodyPr wrap="square"/>
                    <a:lstStyle/>
                    <a:p>
                      <a:pPr algn="l"/>
                      <a:r>
                        <a:rPr sz="800" b="0"/>
                        <a:t>vLLM memory profiling regression</a:t>
                      </a:r>
                    </a:p>
                  </a:txBody>
                  <a:tcPr anchor="ctr">
                    <a:solidFill>
                      <a:srgbClr val="ffffff"/>
                    </a:solidFill>
                  </a:tcPr>
                </a:tc>
                <a:tc>
                  <a:txBody>
                    <a:bodyPr wrap="square"/>
                    <a:lstStyle/>
                    <a:p>
                      <a:pPr algn="l"/>
                      <a:r>
                        <a:rPr sz="800" b="0"/>
                        <a:t>Workaround: estimate KV cache from GPU VRAM instead of parsing vLLM logs.</a:t>
                      </a:r>
                    </a:p>
                  </a:txBody>
                  <a:tcPr anchor="ctr">
                    <a:solidFill>
                      <a:srgbClr val="ffffff"/>
                    </a:solidFill>
                  </a:tcPr>
                </a:tc>
              </a:tr>
            </a:tbl>
          </a:graphicData>
        </a:graphic>
      </p:graphicFrame>
      <p:sp>
        <p:nvSpPr>
          <p:cNvPr id="6" name="TextBox 5"/>
          <p:cNvSpPr txBox="1"/>
          <p:nvPr/>
        </p:nvSpPr>
        <p:spPr>
          <a:xfrm>
            <a:off x="457200" y="5029200"/>
            <a:ext cx="10972800" cy="914400"/>
          </a:xfrm>
          <a:prstGeom prst="rect">
            <a:avLst/>
          </a:prstGeom>
          <a:noFill/>
        </p:spPr>
        <p:txBody>
          <a:bodyPr wrap="square">
            <a:spAutoFit/>
          </a:bodyPr>
          <a:lstStyle/>
          <a:p>
            <a:r>
              <a:rPr sz="1400" b="1">
                <a:solidFill>
                  <a:srgbClr val="0C4A6E"/>
                </a:solidFill>
              </a:rPr>
              <a:t>Additional Findings</a:t>
            </a:r>
          </a:p>
          <a:p>
            <a:pPr>
              <a:spcBef>
                <a:spcPts val="400"/>
              </a:spcBef>
            </a:pPr>
            <a:r>
              <a:rPr sz="1000" b="0">
                <a:solidFill>
                  <a:srgbClr val="374151"/>
                </a:solidFill>
              </a:rPr>
              <a:t>• DeepGemm auto-enables on H200s — crashes with compressed-tensors per-channel FP8 (Llama-4-Maverick) and at low TP for some models</a:t>
            </a:r>
          </a:p>
          <a:p>
            <a:r>
              <a:rPr sz="1000" b="0">
                <a:solidFill>
                  <a:srgbClr val="374151"/>
                </a:solidFill>
              </a:rPr>
              <a:t>• Hybrid attention models (Llama-4-Maverick, Qwen3-Next) require NixlConnector HMA support for PD — available in llm-d v0.7.0+ (RHAIIS 3.5)</a:t>
            </a:r>
          </a:p>
          <a:p>
            <a:r>
              <a:rPr sz="1000" b="0">
                <a:solidFill>
                  <a:srgbClr val="374151"/>
                </a:solidFill>
              </a:rPr>
              <a:t>• MoE models with small shared_expert_intermediate_size limit max TP due to FP8 block quantization (partition_size &gt;= 128)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457200"/>
          </a:xfrm>
          <a:prstGeom prst="rect">
            <a:avLst/>
          </a:prstGeom>
          <a:noFill/>
        </p:spPr>
        <p:txBody>
          <a:bodyPr wrap="square">
            <a:spAutoFit/>
          </a:bodyPr>
          <a:lstStyle/>
          <a:p>
            <a:r>
              <a:rPr sz="2200" b="1">
                <a:solidFill>
                  <a:srgbClr val="0C4A6E"/>
                </a:solidFill>
              </a:rPr>
              <a:t>Recommendations</a:t>
            </a:r>
          </a:p>
        </p:txBody>
      </p:sp>
      <p:sp>
        <p:nvSpPr>
          <p:cNvPr id="3" name="TextBox 2"/>
          <p:cNvSpPr txBox="1"/>
          <p:nvPr/>
        </p:nvSpPr>
        <p:spPr>
          <a:xfrm>
            <a:off x="457200" y="822960"/>
            <a:ext cx="10972800" cy="5486400"/>
          </a:xfrm>
          <a:prstGeom prst="rect">
            <a:avLst/>
          </a:prstGeom>
          <a:noFill/>
        </p:spPr>
        <p:txBody>
          <a:bodyPr wrap="square">
            <a:spAutoFit/>
          </a:bodyPr>
          <a:lstStyle/>
          <a:p>
            <a:r>
              <a:rPr sz="1300" b="1">
                <a:solidFill>
                  <a:srgbClr val="0C4A6E"/>
                </a:solidFill>
              </a:rPr>
              <a:t>Upgrade Path</a:t>
            </a:r>
          </a:p>
          <a:p>
            <a:pPr>
              <a:spcBef>
                <a:spcPts val="400"/>
              </a:spcBef>
            </a:pPr>
            <a:r>
              <a:rPr sz="1000" b="0">
                <a:solidFill>
                  <a:srgbClr val="374151"/>
                </a:solidFill>
              </a:rPr>
              <a:t>RHAIIS 3.4 improves PD performance by 10-23% out of the box. Aggregated performance depends on TP and model — re-run optimization after upgrading. With auto-tuning, all configurations exceed the 3.3 baseline by 34-56%.</a:t>
            </a:r>
          </a:p>
          <a:p>
            <a:pPr>
              <a:spcBef>
                <a:spcPts val="1600"/>
              </a:spcBef>
            </a:pPr>
            <a:r>
              <a:rPr sz="1300" b="1">
                <a:solidFill>
                  <a:srgbClr val="0C4A6E"/>
                </a:solidFill>
              </a:rPr>
              <a:t>New Models Requiring RHAIIS 3.5+</a:t>
            </a:r>
          </a:p>
          <a:p>
            <a:pPr>
              <a:spcBef>
                <a:spcPts val="400"/>
              </a:spcBef>
            </a:pPr>
            <a:r>
              <a:rPr sz="1000" b="0">
                <a:solidFill>
                  <a:srgbClr val="374151"/>
                </a:solidFill>
              </a:rPr>
              <a:t>Llama-4-Maverick and Qwen3-Next require llm-d v0.7.0 (RHAIIS 3.5 EA2 / vLLM v0.19.1) for PD disaggregation due to hybrid attention HMA support in NixlConnector. Aggregated mode works on 3.4.</a:t>
            </a:r>
          </a:p>
          <a:p>
            <a:pPr>
              <a:spcBef>
                <a:spcPts val="1600"/>
              </a:spcBef>
            </a:pPr>
            <a:r>
              <a:rPr sz="1300" b="1">
                <a:solidFill>
                  <a:srgbClr val="0C4A6E"/>
                </a:solidFill>
              </a:rPr>
              <a:t>Large MoE Models</a:t>
            </a:r>
          </a:p>
          <a:p>
            <a:pPr>
              <a:spcBef>
                <a:spcPts val="400"/>
              </a:spcBef>
            </a:pPr>
            <a:r>
              <a:rPr sz="1000" b="0">
                <a:solidFill>
                  <a:srgbClr val="374151"/>
                </a:solidFill>
              </a:rPr>
              <a:t>DeepSeek-R1 and Qwen3-235B require Wide-EP across 32+ GPUs. Test on larger clusters or use the llm-d Wide-EP guide as reference.</a:t>
            </a:r>
          </a:p>
          <a:p>
            <a:pPr>
              <a:spcBef>
                <a:spcPts val="1600"/>
              </a:spcBef>
            </a:pPr>
            <a:r>
              <a:rPr sz="1300" b="1">
                <a:solidFill>
                  <a:srgbClr val="0C4A6E"/>
                </a:solidFill>
              </a:rPr>
              <a:t>Auto-Tuning Value</a:t>
            </a:r>
          </a:p>
          <a:p>
            <a:pPr>
              <a:spcBef>
                <a:spcPts val="400"/>
              </a:spcBef>
            </a:pPr>
            <a:r>
              <a:rPr sz="1000" b="0">
                <a:solidFill>
                  <a:srgbClr val="374151"/>
                </a:solidFill>
              </a:rPr>
              <a:t>Even without version changes, Inftune Studio auto-tuning adds 34-56% TTFT improvement through smart gpu_memory_utilization, max_num_seqs, block_size, and EPP weight optimization. Recommended for all production deployments.</a:t>
            </a:r>
          </a:p>
          <a:p>
            <a:pPr>
              <a:spcBef>
                <a:spcPts val="1600"/>
              </a:spcBef>
            </a:pPr>
            <a:r>
              <a:rPr sz="1300" b="1">
                <a:solidFill>
                  <a:srgbClr val="0C4A6E"/>
                </a:solidFill>
              </a:rPr>
              <a:t>Inftune Studio Improvements</a:t>
            </a:r>
          </a:p>
          <a:p>
            <a:pPr>
              <a:spcBef>
                <a:spcPts val="400"/>
              </a:spcBef>
            </a:pPr>
            <a:r>
              <a:rPr sz="1000" b="0">
                <a:solidFill>
                  <a:srgbClr val="374151"/>
                </a:solidFill>
              </a:rPr>
              <a:t>Model config detection now reads config.json directly (no name parsing). Handles multimodal nested configs, compressed-tensors FP8 detection, interleaved MoE layers, hybrid attention detection, and DeepGemm compatibility.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