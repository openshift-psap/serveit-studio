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r>
              <a:rPr sz="4000" b="1">
                <a:solidFill>
                  <a:srgbClr val="0C4A6E"/>
                </a:solidFill>
              </a:rPr>
              <a:t>RHAIIS 3.3 vs 3.4</a:t>
            </a:r>
          </a:p>
          <a:p>
            <a:r>
              <a:rPr sz="2200" b="0">
                <a:solidFill>
                  <a:srgbClr val="374151"/>
                </a:solidFill>
              </a:rPr>
              <a:t>Inference Performance Regression &amp; Optimization Results</a:t>
            </a:r>
          </a:p>
          <a:p>
            <a:pPr>
              <a:spcBef>
                <a:spcPts val="2400"/>
              </a:spcBef>
            </a:pPr>
          </a:p>
          <a:p>
            <a:r>
              <a:rPr sz="1200" b="1">
                <a:solidFill>
                  <a:srgbClr val="64748B"/>
                </a:solidFill>
              </a:rPr>
              <a:t>Hardware:  </a:t>
            </a:r>
            <a:r>
              <a:rPr sz="1200" b="0">
                <a:solidFill>
                  <a:srgbClr val="64748B"/>
                </a:solidFill>
              </a:rPr>
              <a:t>16x NVIDIA H200 (140GB), 2 nodes, CoreWeave, RDMA/InfiniBand</a:t>
            </a:r>
          </a:p>
          <a:p>
            <a:r>
              <a:rPr sz="1200" b="1">
                <a:solidFill>
                  <a:srgbClr val="64748B"/>
                </a:solidFill>
              </a:rPr>
              <a:t>Software:  </a:t>
            </a:r>
            <a:r>
              <a:rPr sz="1200" b="0">
                <a:solidFill>
                  <a:srgbClr val="64748B"/>
                </a:solidFill>
              </a:rPr>
              <a:t>llm-d v0.4.0 (RHAIIS 3.3) vs v0.6.0 (RHAIIS 3.4)</a:t>
            </a:r>
          </a:p>
          <a:p>
            <a:r>
              <a:rPr sz="1200" b="1">
                <a:solidFill>
                  <a:srgbClr val="64748B"/>
                </a:solidFill>
              </a:rPr>
              <a:t>Models:    </a:t>
            </a:r>
            <a:r>
              <a:rPr sz="1200" b="0">
                <a:solidFill>
                  <a:srgbClr val="64748B"/>
                </a:solidFill>
              </a:rPr>
              <a:t>9 models across Dense, Large/Medium/Small MoE architectures</a:t>
            </a:r>
          </a:p>
          <a:p>
            <a:r>
              <a:rPr sz="1200" b="1">
                <a:solidFill>
                  <a:srgbClr val="64748B"/>
                </a:solidFill>
              </a:rPr>
              <a:t>Workload:  </a:t>
            </a:r>
            <a:r>
              <a:rPr sz="1200" b="0">
                <a:solidFill>
                  <a:srgbClr val="64748B"/>
                </a:solidFill>
              </a:rPr>
              <a:t>ISL 2000 / OSL 100 / 100 concurrent users / 50% prefix cache</a:t>
            </a:r>
          </a:p>
          <a:p>
            <a:r>
              <a:rPr sz="1200" b="1">
                <a:solidFill>
                  <a:srgbClr val="64748B"/>
                </a:solidFill>
              </a:rPr>
              <a:t>Tool:      </a:t>
            </a:r>
            <a:r>
              <a:rPr sz="1200" b="0">
                <a:solidFill>
                  <a:srgbClr val="64748B"/>
                </a:solidFill>
              </a:rPr>
              <a:t>ServeIt Studio — automated 11-step optimization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10972800" cy="365760"/>
          </a:xfrm>
          <a:prstGeom prst="rect">
            <a:avLst/>
          </a:prstGeom>
          <a:noFill/>
        </p:spPr>
        <p:txBody>
          <a:bodyPr wrap="square">
            <a:spAutoFit/>
          </a:bodyPr>
          <a:lstStyle/>
          <a:p>
            <a:r>
              <a:rPr sz="2200" b="1">
                <a:solidFill>
                  <a:srgbClr val="0C4A6E"/>
                </a:solidFill>
              </a:rPr>
              <a:t>Model Test Matrix — What We Could and Couldn't Test</a:t>
            </a:r>
          </a:p>
        </p:txBody>
      </p:sp>
      <p:graphicFrame>
        <p:nvGraphicFramePr>
          <p:cNvPr id="3" name="Table 2"/>
          <p:cNvGraphicFramePr>
            <a:graphicFrameLocks noGrp="1"/>
          </p:cNvGraphicFramePr>
          <p:nvPr/>
        </p:nvGraphicFramePr>
        <p:xfrm>
          <a:off x="182880" y="594360"/>
          <a:ext cx="11795760" cy="5029200"/>
        </p:xfrm>
        <a:graphic>
          <a:graphicData uri="http://schemas.openxmlformats.org/drawingml/2006/table">
            <a:tbl>
              <a:tblPr firstRow="1" bandRow="1">
                <a:tableStyleId>{5C22544A-7EE6-4342-B048-85BDC9FD1C3A}</a:tableStyleId>
              </a:tblPr>
              <a:tblGrid>
                <a:gridCol w="640080"/>
                <a:gridCol w="2743200"/>
                <a:gridCol w="640080"/>
                <a:gridCol w="640080"/>
                <a:gridCol w="640080"/>
                <a:gridCol w="731520"/>
                <a:gridCol w="5760720"/>
              </a:tblGrid>
              <a:tr h="502920">
                <a:tc>
                  <a:txBody>
                    <a:bodyPr wrap="square"/>
                    <a:lstStyle/>
                    <a:p>
                      <a:pPr algn="ctr"/>
                      <a:r>
                        <a:rPr sz="800" b="1">
                          <a:solidFill>
                            <a:srgbClr val="FFFFFF"/>
                          </a:solidFill>
                        </a:rPr>
                        <a:t>Arch</a:t>
                      </a:r>
                    </a:p>
                  </a:txBody>
                  <a:tcPr anchor="ctr">
                    <a:solidFill>
                      <a:srgbClr val="0c4a6e"/>
                    </a:solidFill>
                  </a:tcPr>
                </a:tc>
                <a:tc>
                  <a:txBody>
                    <a:bodyPr wrap="square"/>
                    <a:lstStyle/>
                    <a:p>
                      <a:pPr algn="ctr"/>
                      <a:r>
                        <a:rPr sz="800" b="1">
                          <a:solidFill>
                            <a:srgbClr val="FFFFFF"/>
                          </a:solidFill>
                        </a:rPr>
                        <a:t>Model</a:t>
                      </a:r>
                    </a:p>
                  </a:txBody>
                  <a:tcPr anchor="ctr">
                    <a:solidFill>
                      <a:srgbClr val="0c4a6e"/>
                    </a:solidFill>
                  </a:tcPr>
                </a:tc>
                <a:tc>
                  <a:txBody>
                    <a:bodyPr wrap="square"/>
                    <a:lstStyle/>
                    <a:p>
                      <a:pPr algn="ctr"/>
                      <a:r>
                        <a:rPr sz="800" b="1">
                          <a:solidFill>
                            <a:srgbClr val="FFFFFF"/>
                          </a:solidFill>
                        </a:rPr>
                        <a:t>3.3
Base</a:t>
                      </a:r>
                    </a:p>
                  </a:txBody>
                  <a:tcPr anchor="ctr">
                    <a:solidFill>
                      <a:srgbClr val="0c4a6e"/>
                    </a:solidFill>
                  </a:tcPr>
                </a:tc>
                <a:tc>
                  <a:txBody>
                    <a:bodyPr wrap="square"/>
                    <a:lstStyle/>
                    <a:p>
                      <a:pPr algn="ctr"/>
                      <a:r>
                        <a:rPr sz="800" b="1">
                          <a:solidFill>
                            <a:srgbClr val="FFFFFF"/>
                          </a:solidFill>
                        </a:rPr>
                        <a:t>3.4
Base</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3.4
Regression</a:t>
                      </a:r>
                    </a:p>
                  </a:txBody>
                  <a:tcPr anchor="ctr">
                    <a:solidFill>
                      <a:srgbClr val="0c4a6e"/>
                    </a:solidFill>
                  </a:tcPr>
                </a:tc>
                <a:tc>
                  <a:txBody>
                    <a:bodyPr wrap="square"/>
                    <a:lstStyle/>
                    <a:p>
                      <a:pPr algn="ctr"/>
                      <a:r>
                        <a:rPr sz="800" b="1">
                          <a:solidFill>
                            <a:srgbClr val="FFFFFF"/>
                          </a:solidFill>
                        </a:rPr>
                        <a:t>Blocker / Notes</a:t>
                      </a:r>
                    </a:p>
                  </a:txBody>
                  <a:tcPr anchor="ctr">
                    <a:solidFill>
                      <a:srgbClr val="0c4a6e"/>
                    </a:solidFill>
                  </a:tcPr>
                </a:tc>
              </a:tr>
              <a:tr h="502920">
                <a:tc rowSpan="3">
                  <a:txBody>
                    <a:bodyPr wrap="square"/>
                    <a:lstStyle/>
                    <a:p>
                      <a:pPr algn="ctr"/>
                      <a:r>
                        <a:rPr sz="800" b="1">
                          <a:solidFill>
                            <a:srgbClr val="0C4A6E"/>
                          </a:solidFill>
                        </a:rPr>
                        <a:t>Dense</a:t>
                      </a:r>
                    </a:p>
                  </a:txBody>
                  <a:tcPr anchor="ctr">
                    <a:solidFill>
                      <a:srgbClr val="f0f9ff"/>
                    </a:solidFill>
                  </a:tcPr>
                </a:tc>
                <a:tc>
                  <a:txBody>
                    <a:bodyPr wrap="square"/>
                    <a:lstStyle/>
                    <a:p>
                      <a:pPr algn="l"/>
                      <a:r>
                        <a:rPr sz="700" b="0"/>
                        <a:t>RedHatAI/Llama-3.3-70B-Instruct-FP8-dynamic</a:t>
                      </a:r>
                    </a:p>
                  </a:txBody>
                  <a:tcPr anchor="ctr">
                    <a:solidFill>
                      <a:srgbClr val="ffffff"/>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Qwen/Qwen3-32B</a:t>
                      </a:r>
                    </a:p>
                  </a:txBody>
                  <a:tcPr anchor="ctr">
                    <a:solidFill>
                      <a:srgbClr val="f8fafc"/>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mistralai/Ministral-3-14B-Reasoning-2512</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supported. model_type 'ministral3' not recognized by vLLM in llm-d v0.6.0.</a:t>
                      </a:r>
                    </a:p>
                  </a:txBody>
                  <a:tcPr anchor="ctr">
                    <a:solidFill>
                      <a:srgbClr val="ffffff"/>
                    </a:solidFill>
                  </a:tcPr>
                </a:tc>
              </a:tr>
              <a:tr h="502920">
                <a:tc rowSpan="2">
                  <a:txBody>
                    <a:bodyPr wrap="square"/>
                    <a:lstStyle/>
                    <a:p>
                      <a:pPr algn="ctr"/>
                      <a:r>
                        <a:rPr sz="800" b="1">
                          <a:solidFill>
                            <a:srgbClr val="0C4A6E"/>
                          </a:solidFill>
                        </a:rPr>
                        <a:t>Large
MoE</a:t>
                      </a:r>
                    </a:p>
                  </a:txBody>
                  <a:tcPr anchor="ctr">
                    <a:solidFill>
                      <a:srgbClr val="f0f9ff"/>
                    </a:solidFill>
                  </a:tcPr>
                </a:tc>
                <a:tc>
                  <a:txBody>
                    <a:bodyPr wrap="square"/>
                    <a:lstStyle/>
                    <a:p>
                      <a:pPr algn="l"/>
                      <a:r>
                        <a:rPr sz="700" b="0"/>
                        <a:t>RedHatAI/Llama-4-Maverick-17B-128E-Instruct-FP8</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only on 3.4. PD blocked: hybrid attention + NixlConnector HMA.</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deepseek-ai/DeepSeek-R1-0528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Can run aggregated and EP on 16 GPUs. Not tested yet.</a:t>
                      </a:r>
                    </a:p>
                  </a:txBody>
                  <a:tcPr anchor="ctr">
                    <a:solidFill>
                      <a:srgbClr val="ffffff"/>
                    </a:solidFill>
                  </a:tcPr>
                </a:tc>
              </a:tr>
              <a:tr h="502920">
                <a:tc>
                  <a:txBody>
                    <a:bodyPr wrap="square"/>
                    <a:lstStyle/>
                    <a:p>
                      <a:pPr algn="ctr"/>
                      <a:r>
                        <a:rPr sz="800" b="1">
                          <a:solidFill>
                            <a:srgbClr val="0C4A6E"/>
                          </a:solidFill>
                        </a:rPr>
                        <a:t>Medium
MoE</a:t>
                      </a:r>
                    </a:p>
                  </a:txBody>
                  <a:tcPr anchor="ctr">
                    <a:solidFill>
                      <a:srgbClr val="f0f9ff"/>
                    </a:solidFill>
                  </a:tcPr>
                </a:tc>
                <a:tc>
                  <a:txBody>
                    <a:bodyPr wrap="square"/>
                    <a:lstStyle/>
                    <a:p>
                      <a:pPr algn="l"/>
                      <a:r>
                        <a:rPr sz="700" b="0"/>
                        <a:t>RedHatAI/Qwen3-235B-A22B-FP8-dynamic</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Can run aggregated TP=8 on 16 GPUs (~29GB/GPU FP8). Not tested yet.</a:t>
                      </a:r>
                    </a:p>
                  </a:txBody>
                  <a:tcPr anchor="ctr">
                    <a:solidFill>
                      <a:srgbClr val="f8fafc"/>
                    </a:solidFill>
                  </a:tcPr>
                </a:tc>
              </a:tr>
              <a:tr h="502920">
                <a:tc rowSpan="3">
                  <a:txBody>
                    <a:bodyPr wrap="square"/>
                    <a:lstStyle/>
                    <a:p>
                      <a:pPr algn="ctr"/>
                      <a:r>
                        <a:rPr sz="800" b="1">
                          <a:solidFill>
                            <a:srgbClr val="0C4A6E"/>
                          </a:solidFill>
                        </a:rPr>
                        <a:t>Small
MoE</a:t>
                      </a:r>
                    </a:p>
                  </a:txBody>
                  <a:tcPr anchor="ctr">
                    <a:solidFill>
                      <a:srgbClr val="f0f9ff"/>
                    </a:solidFill>
                  </a:tcPr>
                </a:tc>
                <a:tc>
                  <a:txBody>
                    <a:bodyPr wrap="square"/>
                    <a:lstStyle/>
                    <a:p>
                      <a:pPr algn="l"/>
                      <a:r>
                        <a:rPr sz="700" b="0"/>
                        <a:t>Qwen/Qwen3-Next-80B-A3B-Instruct-FP8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TP&lt;=4 only. PD blocked: hybrid attention (GDN) + HMA.</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openai/gpt-oss-120b</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tested. Need to check hybrid attention status for PD support.</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nvidia/NVIDIA-Nemotron-3-Nano-30B-A3B-FP8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tested yet. Likely same constraints as Qwen3-Next.</a:t>
                      </a:r>
                    </a:p>
                  </a:txBody>
                  <a:tcPr anchor="ctr">
                    <a:solidFill>
                      <a:srgbClr val="ffffff"/>
                    </a:solidFill>
                  </a:tcPr>
                </a:tc>
              </a:tr>
            </a:tbl>
          </a:graphicData>
        </a:graphic>
      </p:graphicFrame>
      <p:sp>
        <p:nvSpPr>
          <p:cNvPr id="4" name="TextBox 3"/>
          <p:cNvSpPr txBox="1"/>
          <p:nvPr/>
        </p:nvSpPr>
        <p:spPr>
          <a:xfrm>
            <a:off x="274320" y="5715000"/>
            <a:ext cx="10972800" cy="365760"/>
          </a:xfrm>
          <a:prstGeom prst="rect">
            <a:avLst/>
          </a:prstGeom>
          <a:noFill/>
        </p:spPr>
        <p:txBody>
          <a:bodyPr wrap="square">
            <a:spAutoFit/>
          </a:bodyPr>
          <a:lstStyle/>
          <a:p>
            <a:r>
              <a:rPr sz="800" b="0">
                <a:solidFill>
                  <a:srgbClr val="64748B"/>
                </a:solidFill>
              </a:rPr>
              <a:t>PASS = full regression tested  |  AGG = aggregated only (PD blocked)  |  — = not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Why We Couldn't Test Some Models</a:t>
            </a:r>
          </a:p>
        </p:txBody>
      </p:sp>
      <p:sp>
        <p:nvSpPr>
          <p:cNvPr id="3" name="TextBox 2"/>
          <p:cNvSpPr txBox="1"/>
          <p:nvPr/>
        </p:nvSpPr>
        <p:spPr>
          <a:xfrm>
            <a:off x="457200" y="914400"/>
            <a:ext cx="10972800" cy="1097280"/>
          </a:xfrm>
          <a:prstGeom prst="rect">
            <a:avLst/>
          </a:prstGeom>
          <a:noFill/>
        </p:spPr>
        <p:txBody>
          <a:bodyPr wrap="square">
            <a:spAutoFit/>
          </a:bodyPr>
          <a:lstStyle/>
          <a:p>
            <a:r>
              <a:rPr sz="1300" b="1">
                <a:solidFill>
                  <a:srgbClr val="0C4A6E"/>
                </a:solidFill>
              </a:rPr>
              <a:t>1. New Models — No RHAIIS 3.3 Baseline Exists</a:t>
            </a:r>
          </a:p>
          <a:p>
            <a:pPr>
              <a:spcBef>
                <a:spcPts val="400"/>
              </a:spcBef>
            </a:pPr>
            <a:r>
              <a:rPr sz="1000" b="0">
                <a:solidFill>
                  <a:srgbClr val="374151"/>
                </a:solidFill>
              </a:rPr>
              <a:t>Ministral-3-14B, DeepSeek-R1, Qwen3-Next-80B, Nemotron-3-Nano are new models that didn't exist when RHAIIS 3.3 shipped. There is no 3.3 baseline to compare against.</a:t>
            </a:r>
          </a:p>
        </p:txBody>
      </p:sp>
      <p:sp>
        <p:nvSpPr>
          <p:cNvPr id="4" name="TextBox 3"/>
          <p:cNvSpPr txBox="1"/>
          <p:nvPr/>
        </p:nvSpPr>
        <p:spPr>
          <a:xfrm>
            <a:off x="457200" y="2240280"/>
            <a:ext cx="10972800" cy="1097280"/>
          </a:xfrm>
          <a:prstGeom prst="rect">
            <a:avLst/>
          </a:prstGeom>
          <a:noFill/>
        </p:spPr>
        <p:txBody>
          <a:bodyPr wrap="square">
            <a:spAutoFit/>
          </a:bodyPr>
          <a:lstStyle/>
          <a:p>
            <a:r>
              <a:rPr sz="1300" b="1">
                <a:solidFill>
                  <a:srgbClr val="0C4A6E"/>
                </a:solidFill>
              </a:rPr>
              <a:t>2. Hybrid Attention + NixlConnector HMA (PD Disaggregation Blocker)</a:t>
            </a:r>
          </a:p>
          <a:p>
            <a:pPr>
              <a:spcBef>
                <a:spcPts val="400"/>
              </a:spcBef>
            </a:pPr>
            <a:r>
              <a:rPr sz="1000" b="0">
                <a:solidFill>
                  <a:srgbClr val="374151"/>
                </a:solidFill>
              </a:rPr>
              <a:t>Llama-4-Maverick and Qwen3-Next use hybrid attention. PD via NixlConnector requires the HMA interface, which is not implemented in vLLM v0.17.1 (llm-d v0.6.0). Available in vLLM v0.19.1+ (llm-d v0.7.0 / RHAIIS 3.5 EA2). Aggregated mode works for all models.</a:t>
            </a:r>
          </a:p>
        </p:txBody>
      </p:sp>
      <p:sp>
        <p:nvSpPr>
          <p:cNvPr id="5" name="TextBox 4"/>
          <p:cNvSpPr txBox="1"/>
          <p:nvPr/>
        </p:nvSpPr>
        <p:spPr>
          <a:xfrm>
            <a:off x="457200" y="3566160"/>
            <a:ext cx="10972800" cy="1097280"/>
          </a:xfrm>
          <a:prstGeom prst="rect">
            <a:avLst/>
          </a:prstGeom>
          <a:noFill/>
        </p:spPr>
        <p:txBody>
          <a:bodyPr wrap="square">
            <a:spAutoFit/>
          </a:bodyPr>
          <a:lstStyle/>
          <a:p>
            <a:r>
              <a:rPr sz="1300" b="1">
                <a:solidFill>
                  <a:srgbClr val="0C4A6E"/>
                </a:solidFill>
              </a:rPr>
              <a:t>3. Ministral Not Supported</a:t>
            </a:r>
          </a:p>
          <a:p>
            <a:pPr>
              <a:spcBef>
                <a:spcPts val="400"/>
              </a:spcBef>
            </a:pPr>
            <a:r>
              <a:rPr sz="1000" b="0">
                <a:solidFill>
                  <a:srgbClr val="374151"/>
                </a:solidFill>
              </a:rPr>
              <a:t>model_type 'ministral3' is not recognized by vLLM/transformers in the llm-d v0.6.0 image. The model architecture is not yet implemented in this version.</a:t>
            </a:r>
          </a:p>
        </p:txBody>
      </p:sp>
      <p:sp>
        <p:nvSpPr>
          <p:cNvPr id="6" name="TextBox 5"/>
          <p:cNvSpPr txBox="1"/>
          <p:nvPr/>
        </p:nvSpPr>
        <p:spPr>
          <a:xfrm>
            <a:off x="457200" y="4892040"/>
            <a:ext cx="10972800" cy="1097280"/>
          </a:xfrm>
          <a:prstGeom prst="rect">
            <a:avLst/>
          </a:prstGeom>
          <a:noFill/>
        </p:spPr>
        <p:txBody>
          <a:bodyPr wrap="square">
            <a:spAutoFit/>
          </a:bodyPr>
          <a:lstStyle/>
          <a:p>
            <a:r>
              <a:rPr sz="1300" b="1">
                <a:solidFill>
                  <a:srgbClr val="0C4A6E"/>
                </a:solidFill>
              </a:rPr>
              <a:t>4. FP8 Quantization Incompatibilities</a:t>
            </a:r>
          </a:p>
          <a:p>
            <a:pPr>
              <a:spcBef>
                <a:spcPts val="400"/>
              </a:spcBef>
            </a:pPr>
            <a:r>
              <a:rPr sz="1000" b="0">
                <a:solidFill>
                  <a:srgbClr val="374151"/>
                </a:solidFill>
              </a:rPr>
              <a:t>Llama-4-Maverick uses compressed-tensors per-channel FP8 — DeepGemm incompatible. Qwen3-Next has shared_expert_intermediate_size=512, limiting max TP to 4. DeepGemm JIT crashes at TP&lt;8 for some FP8 models (auto-enabled on H200s).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Qwen3-32B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800" b="1">
                          <a:solidFill>
                            <a:srgbClr val="FFFFFF"/>
                          </a:solidFill>
                        </a:rPr>
                        <a:t>Metric</a:t>
                      </a:r>
                    </a:p>
                  </a:txBody>
                  <a:tcPr anchor="ctr">
                    <a:solidFill>
                      <a:srgbClr val="0c4a6e"/>
                    </a:solidFill>
                  </a:tcPr>
                </a:tc>
                <a:tc>
                  <a:txBody>
                    <a:bodyPr wrap="square"/>
                    <a:lstStyle/>
                    <a:p>
                      <a:pPr algn="ctr"/>
                      <a:r>
                        <a:rPr sz="800" b="1">
                          <a:solidFill>
                            <a:srgbClr val="FFFFFF"/>
                          </a:solidFill>
                        </a:rPr>
                        <a:t>RHAIIS 3.3</a:t>
                      </a:r>
                    </a:p>
                  </a:txBody>
                  <a:tcPr anchor="ctr">
                    <a:solidFill>
                      <a:srgbClr val="0c4a6e"/>
                    </a:solidFill>
                  </a:tcPr>
                </a:tc>
                <a:tc>
                  <a:txBody>
                    <a:bodyPr wrap="square"/>
                    <a:lstStyle/>
                    <a:p>
                      <a:pPr algn="ctr"/>
                      <a:r>
                        <a:rPr sz="800" b="1">
                          <a:solidFill>
                            <a:srgbClr val="FFFFFF"/>
                          </a:solidFill>
                        </a:rPr>
                        <a:t>RHAIIS 3.4</a:t>
                      </a:r>
                    </a:p>
                  </a:txBody>
                  <a:tcPr anchor="ctr">
                    <a:solidFill>
                      <a:srgbClr val="0c4a6e"/>
                    </a:solidFill>
                  </a:tcPr>
                </a:tc>
                <a:tc>
                  <a:txBody>
                    <a:bodyPr wrap="square"/>
                    <a:lstStyle/>
                    <a:p>
                      <a:pPr algn="ctr"/>
                      <a:r>
                        <a:rPr sz="800" b="1">
                          <a:solidFill>
                            <a:srgbClr val="FFFFFF"/>
                          </a:solidFill>
                        </a:rPr>
                        <a:t>Delta</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880 ms</a:t>
                      </a:r>
                    </a:p>
                  </a:txBody>
                  <a:tcPr anchor="ctr">
                    <a:solidFill>
                      <a:srgbClr val="ffffff"/>
                    </a:solidFill>
                  </a:tcPr>
                </a:tc>
                <a:tc>
                  <a:txBody>
                    <a:bodyPr wrap="square"/>
                    <a:lstStyle/>
                    <a:p>
                      <a:pPr algn="ctr"/>
                      <a:r>
                        <a:rPr sz="900" b="0"/>
                        <a:t>675 ms</a:t>
                      </a:r>
                    </a:p>
                  </a:txBody>
                  <a:tcPr anchor="ctr">
                    <a:solidFill>
                      <a:srgbClr val="ffffff"/>
                    </a:solidFill>
                  </a:tcPr>
                </a:tc>
                <a:tc>
                  <a:txBody>
                    <a:bodyPr wrap="square"/>
                    <a:lstStyle/>
                    <a:p>
                      <a:pPr algn="ctr"/>
                      <a:r>
                        <a:rPr sz="900" b="0"/>
                        <a:t>-23.3%</a:t>
                      </a:r>
                    </a:p>
                  </a:txBody>
                  <a:tcPr anchor="ctr">
                    <a:solidFill>
                      <a:srgbClr val="ffffff"/>
                    </a:solidFill>
                  </a:tcPr>
                </a:tc>
                <a:tc>
                  <a:txBody>
                    <a:bodyPr wrap="square"/>
                    <a:lstStyle/>
                    <a:p>
                      <a:pPr algn="ctr"/>
                      <a:r>
                        <a:rPr sz="900" b="0"/>
                        <a:t>534 ms</a:t>
                      </a:r>
                    </a:p>
                  </a:txBody>
                  <a:tcPr anchor="ctr">
                    <a:solidFill>
                      <a:srgbClr val="ffffff"/>
                    </a:solidFill>
                  </a:tcPr>
                </a:tc>
                <a:tc>
                  <a:txBody>
                    <a:bodyPr wrap="square"/>
                    <a:lstStyle/>
                    <a:p>
                      <a:pPr algn="ctr"/>
                      <a:r>
                        <a:rPr sz="900" b="0"/>
                        <a:t>-39.3%</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1,592 ms</a:t>
                      </a:r>
                    </a:p>
                  </a:txBody>
                  <a:tcPr anchor="ctr">
                    <a:solidFill>
                      <a:srgbClr val="f8fafc"/>
                    </a:solidFill>
                  </a:tcPr>
                </a:tc>
                <a:tc>
                  <a:txBody>
                    <a:bodyPr wrap="square"/>
                    <a:lstStyle/>
                    <a:p>
                      <a:pPr algn="ctr"/>
                      <a:r>
                        <a:rPr sz="900" b="0"/>
                        <a:t>1,240 ms</a:t>
                      </a:r>
                    </a:p>
                  </a:txBody>
                  <a:tcPr anchor="ctr">
                    <a:solidFill>
                      <a:srgbClr val="f8fafc"/>
                    </a:solidFill>
                  </a:tcPr>
                </a:tc>
                <a:tc>
                  <a:txBody>
                    <a:bodyPr wrap="square"/>
                    <a:lstStyle/>
                    <a:p>
                      <a:pPr algn="ctr"/>
                      <a:r>
                        <a:rPr sz="900" b="0"/>
                        <a:t>-22.1%</a:t>
                      </a:r>
                    </a:p>
                  </a:txBody>
                  <a:tcPr anchor="ctr">
                    <a:solidFill>
                      <a:srgbClr val="f8fafc"/>
                    </a:solidFill>
                  </a:tcPr>
                </a:tc>
                <a:tc>
                  <a:txBody>
                    <a:bodyPr wrap="square"/>
                    <a:lstStyle/>
                    <a:p>
                      <a:pPr algn="ctr"/>
                      <a:r>
                        <a:rPr sz="900" b="0"/>
                        <a:t>993 ms</a:t>
                      </a:r>
                    </a:p>
                  </a:txBody>
                  <a:tcPr anchor="ctr">
                    <a:solidFill>
                      <a:srgbClr val="f8fafc"/>
                    </a:solidFill>
                  </a:tcPr>
                </a:tc>
                <a:tc>
                  <a:txBody>
                    <a:bodyPr wrap="square"/>
                    <a:lstStyle/>
                    <a:p>
                      <a:pPr algn="ctr"/>
                      <a:r>
                        <a:rPr sz="900" b="0"/>
                        <a:t>-37.6%</a:t>
                      </a:r>
                    </a:p>
                  </a:txBody>
                  <a:tcPr anchor="ctr">
                    <a:solidFill>
                      <a:srgbClr val="f8fafc"/>
                    </a:solidFill>
                  </a:tcPr>
                </a:tc>
              </a:tr>
              <a:tr h="365760">
                <a:tc>
                  <a:txBody>
                    <a:bodyPr wrap="square"/>
                    <a:lstStyle/>
                    <a:p>
                      <a:pPr algn="l"/>
                      <a:r>
                        <a:rPr sz="900" b="0"/>
                        <a:t>Throughput</a:t>
                      </a:r>
                    </a:p>
                  </a:txBody>
                  <a:tcPr anchor="ctr">
                    <a:solidFill>
                      <a:srgbClr val="ffffff"/>
                    </a:solidFill>
                  </a:tcPr>
                </a:tc>
                <a:tc>
                  <a:txBody>
                    <a:bodyPr wrap="square"/>
                    <a:lstStyle/>
                    <a:p>
                      <a:pPr algn="ctr"/>
                      <a:r>
                        <a:rPr sz="900" b="0"/>
                        <a:t>31.2 req/s</a:t>
                      </a:r>
                    </a:p>
                  </a:txBody>
                  <a:tcPr anchor="ctr">
                    <a:solidFill>
                      <a:srgbClr val="ffffff"/>
                    </a:solidFill>
                  </a:tcPr>
                </a:tc>
                <a:tc>
                  <a:txBody>
                    <a:bodyPr wrap="square"/>
                    <a:lstStyle/>
                    <a:p>
                      <a:pPr algn="ctr"/>
                      <a:r>
                        <a:rPr sz="900" b="0"/>
                        <a:t>22.5 req/s</a:t>
                      </a:r>
                    </a:p>
                  </a:txBody>
                  <a:tcPr anchor="ctr">
                    <a:solidFill>
                      <a:srgbClr val="ffffff"/>
                    </a:solidFill>
                  </a:tcPr>
                </a:tc>
                <a:tc>
                  <a:txBody>
                    <a:bodyPr wrap="square"/>
                    <a:lstStyle/>
                    <a:p>
                      <a:pPr algn="ctr"/>
                      <a:r>
                        <a:rPr sz="900" b="0"/>
                        <a:t>-27.9%</a:t>
                      </a:r>
                    </a:p>
                  </a:txBody>
                  <a:tcPr anchor="ctr">
                    <a:solidFill>
                      <a:srgbClr val="ffffff"/>
                    </a:solidFill>
                  </a:tcPr>
                </a:tc>
                <a:tc>
                  <a:txBody>
                    <a:bodyPr wrap="square"/>
                    <a:lstStyle/>
                    <a:p>
                      <a:pPr algn="ctr"/>
                      <a:r>
                        <a:rPr sz="900" b="0"/>
                        <a:t>22.6 req/s</a:t>
                      </a:r>
                    </a:p>
                  </a:txBody>
                  <a:tcPr anchor="ctr">
                    <a:solidFill>
                      <a:srgbClr val="ffffff"/>
                    </a:solidFill>
                  </a:tcPr>
                </a:tc>
                <a:tc>
                  <a:txBody>
                    <a:bodyPr wrap="square"/>
                    <a:lstStyle/>
                    <a:p>
                      <a:pPr algn="ctr"/>
                      <a:r>
                        <a:rPr sz="900" b="0"/>
                        <a:t>-27.6%</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18.6 ms</a:t>
                      </a:r>
                    </a:p>
                  </a:txBody>
                  <a:tcPr anchor="ctr">
                    <a:solidFill>
                      <a:srgbClr val="f8fafc"/>
                    </a:solidFill>
                  </a:tcPr>
                </a:tc>
                <a:tc>
                  <a:txBody>
                    <a:bodyPr wrap="square"/>
                    <a:lstStyle/>
                    <a:p>
                      <a:pPr algn="ctr"/>
                      <a:r>
                        <a:rPr sz="900" b="0"/>
                        <a:t>12.1 ms</a:t>
                      </a:r>
                    </a:p>
                  </a:txBody>
                  <a:tcPr anchor="ctr">
                    <a:solidFill>
                      <a:srgbClr val="f8fafc"/>
                    </a:solidFill>
                  </a:tcPr>
                </a:tc>
                <a:tc>
                  <a:txBody>
                    <a:bodyPr wrap="square"/>
                    <a:lstStyle/>
                    <a:p>
                      <a:pPr algn="ctr"/>
                      <a:r>
                        <a:rPr sz="900" b="0"/>
                        <a:t>-34.9%</a:t>
                      </a:r>
                    </a:p>
                  </a:txBody>
                  <a:tcPr anchor="ctr">
                    <a:solidFill>
                      <a:srgbClr val="f8fafc"/>
                    </a:solidFill>
                  </a:tcPr>
                </a:tc>
                <a:tc>
                  <a:txBody>
                    <a:bodyPr wrap="square"/>
                    <a:lstStyle/>
                    <a:p>
                      <a:pPr algn="ctr"/>
                      <a:r>
                        <a:rPr sz="900" b="0"/>
                        <a:t>12.3 ms</a:t>
                      </a:r>
                    </a:p>
                  </a:txBody>
                  <a:tcPr anchor="ctr">
                    <a:solidFill>
                      <a:srgbClr val="f8fafc"/>
                    </a:solidFill>
                  </a:tcPr>
                </a:tc>
                <a:tc>
                  <a:txBody>
                    <a:bodyPr wrap="square"/>
                    <a:lstStyle/>
                    <a:p>
                      <a:pPr algn="ctr"/>
                      <a:r>
                        <a:rPr sz="900" b="0"/>
                        <a:t>-33.9%</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TTFT per Version</a:t>
            </a:r>
          </a:p>
        </p:txBody>
      </p:sp>
      <p:graphicFrame>
        <p:nvGraphicFramePr>
          <p:cNvPr id="6" name="Table 5"/>
          <p:cNvGraphicFramePr>
            <a:graphicFrameLocks noGrp="1"/>
          </p:cNvGraphicFramePr>
          <p:nvPr/>
        </p:nvGraphicFramePr>
        <p:xfrm>
          <a:off x="457200" y="3566160"/>
          <a:ext cx="7315200" cy="1645920"/>
        </p:xfrm>
        <a:graphic>
          <a:graphicData uri="http://schemas.openxmlformats.org/drawingml/2006/table">
            <a:tbl>
              <a:tblPr firstRow="1" bandRow="1">
                <a:tableStyleId>{5C22544A-7EE6-4342-B048-85BDC9FD1C3A}</a:tableStyleId>
              </a:tblPr>
              <a:tblGrid>
                <a:gridCol w="1371600"/>
                <a:gridCol w="1371600"/>
                <a:gridCol w="2286000"/>
                <a:gridCol w="2286000"/>
              </a:tblGrid>
              <a:tr h="329184">
                <a:tc>
                  <a:txBody>
                    <a:bodyPr wrap="square"/>
                    <a:lstStyle/>
                    <a:p>
                      <a:pPr algn="ctr"/>
                      <a:r>
                        <a:rPr sz="800" b="1">
                          <a:solidFill>
                            <a:srgbClr val="FFFFFF"/>
                          </a:solidFill>
                        </a:rPr>
                        <a:t>Version</a:t>
                      </a:r>
                    </a:p>
                  </a:txBody>
                  <a:tcPr anchor="ctr">
                    <a:solidFill>
                      <a:srgbClr val="0c4a6e"/>
                    </a:solidFill>
                  </a:tcPr>
                </a:tc>
                <a:tc>
                  <a:txBody>
                    <a:bodyPr wrap="square"/>
                    <a:lstStyle/>
                    <a:p>
                      <a:pPr algn="ctr"/>
                      <a:r>
                        <a:rPr sz="800" b="1">
                          <a:solidFill>
                            <a:srgbClr val="FFFFFF"/>
                          </a:solidFill>
                        </a:rPr>
                        <a:t>Config</a:t>
                      </a:r>
                    </a:p>
                  </a:txBody>
                  <a:tcPr anchor="ctr">
                    <a:solidFill>
                      <a:srgbClr val="0c4a6e"/>
                    </a:solidFill>
                  </a:tcPr>
                </a:tc>
                <a:tc>
                  <a:txBody>
                    <a:bodyPr wrap="square"/>
                    <a:lstStyle/>
                    <a:p>
                      <a:pPr algn="ctr"/>
                      <a:r>
                        <a:rPr sz="800" b="1">
                          <a:solidFill>
                            <a:srgbClr val="FFFFFF"/>
                          </a:solidFill>
                        </a:rPr>
                        <a:t>TTFT P90</a:t>
                      </a:r>
                    </a:p>
                  </a:txBody>
                  <a:tcPr anchor="ctr">
                    <a:solidFill>
                      <a:srgbClr val="0c4a6e"/>
                    </a:solidFill>
                  </a:tcPr>
                </a:tc>
                <a:tc>
                  <a:txBody>
                    <a:bodyPr wrap="square"/>
                    <a:lstStyle/>
                    <a:p>
                      <a:pPr algn="ctr"/>
                      <a:r>
                        <a:rPr sz="800" b="1">
                          <a:solidFill>
                            <a:srgbClr val="FFFFFF"/>
                          </a:solidFill>
                        </a:rPr>
                        <a:t>Throughput</a:t>
                      </a:r>
                    </a:p>
                  </a:txBody>
                  <a:tcPr anchor="ctr">
                    <a:solidFill>
                      <a:srgbClr val="0c4a6e"/>
                    </a:solidFill>
                  </a:tcPr>
                </a:tc>
              </a:tr>
              <a:tr h="329184">
                <a:tc>
                  <a:txBody>
                    <a:bodyPr wrap="square"/>
                    <a:lstStyle/>
                    <a:p>
                      <a:pPr algn="l"/>
                      <a:r>
                        <a:rPr sz="900" b="0"/>
                        <a:t>RHAIIS 3.3</a:t>
                      </a:r>
                    </a:p>
                  </a:txBody>
                  <a:tcPr anchor="ctr">
                    <a:solidFill>
                      <a:srgbClr val="ffffff"/>
                    </a:solidFill>
                  </a:tcPr>
                </a:tc>
                <a:tc>
                  <a:txBody>
                    <a:bodyPr wrap="square"/>
                    <a:lstStyle/>
                    <a:p>
                      <a:pPr algn="ctr"/>
                      <a:r>
                        <a:rPr sz="900" b="0"/>
                        <a:t>4x TP4</a:t>
                      </a:r>
                    </a:p>
                  </a:txBody>
                  <a:tcPr anchor="ctr">
                    <a:solidFill>
                      <a:srgbClr val="ffffff"/>
                    </a:solidFill>
                  </a:tcPr>
                </a:tc>
                <a:tc>
                  <a:txBody>
                    <a:bodyPr wrap="square"/>
                    <a:lstStyle/>
                    <a:p>
                      <a:pPr algn="ctr"/>
                      <a:r>
                        <a:rPr sz="900" b="0"/>
                        <a:t>1,177 ms</a:t>
                      </a:r>
                    </a:p>
                  </a:txBody>
                  <a:tcPr anchor="ctr">
                    <a:solidFill>
                      <a:srgbClr val="ffffff"/>
                    </a:solidFill>
                  </a:tcPr>
                </a:tc>
                <a:tc>
                  <a:txBody>
                    <a:bodyPr wrap="square"/>
                    <a:lstStyle/>
                    <a:p>
                      <a:pPr algn="ctr"/>
                      <a:r>
                        <a:rPr sz="900" b="0"/>
                        <a:t>30.9 req/s</a:t>
                      </a:r>
                    </a:p>
                  </a:txBody>
                  <a:tcPr anchor="ctr">
                    <a:solidFill>
                      <a:srgbClr val="ffffff"/>
                    </a:solidFill>
                  </a:tcPr>
                </a:tc>
              </a:tr>
              <a:tr h="329184">
                <a:tc>
                  <a:txBody>
                    <a:bodyPr wrap="square"/>
                    <a:lstStyle/>
                    <a:p>
                      <a:pPr algn="l"/>
                      <a:r>
                        <a:rPr sz="900" b="0"/>
                        <a:t>RHAIIS 3.4</a:t>
                      </a:r>
                    </a:p>
                  </a:txBody>
                  <a:tcPr anchor="ctr">
                    <a:solidFill>
                      <a:srgbClr val="f8fafc"/>
                    </a:solidFill>
                  </a:tcPr>
                </a:tc>
                <a:tc>
                  <a:txBody>
                    <a:bodyPr wrap="square"/>
                    <a:lstStyle/>
                    <a:p>
                      <a:pPr algn="ctr"/>
                      <a:r>
                        <a:rPr sz="900" b="0"/>
                        <a:t>8x TP2</a:t>
                      </a:r>
                    </a:p>
                  </a:txBody>
                  <a:tcPr anchor="ctr">
                    <a:solidFill>
                      <a:srgbClr val="f8fafc"/>
                    </a:solidFill>
                  </a:tcPr>
                </a:tc>
                <a:tc>
                  <a:txBody>
                    <a:bodyPr wrap="square"/>
                    <a:lstStyle/>
                    <a:p>
                      <a:pPr algn="ctr"/>
                      <a:r>
                        <a:rPr sz="900" b="0"/>
                        <a:t>995 ms (-15.5%)</a:t>
                      </a:r>
                    </a:p>
                  </a:txBody>
                  <a:tcPr anchor="ctr">
                    <a:solidFill>
                      <a:srgbClr val="f8fafc"/>
                    </a:solidFill>
                  </a:tcPr>
                </a:tc>
                <a:tc>
                  <a:txBody>
                    <a:bodyPr wrap="square"/>
                    <a:lstStyle/>
                    <a:p>
                      <a:pPr algn="ctr"/>
                      <a:r>
                        <a:rPr sz="900" b="0"/>
                        <a:t>24.6 req/s</a:t>
                      </a:r>
                    </a:p>
                  </a:txBody>
                  <a:tcPr anchor="ctr">
                    <a:solidFill>
                      <a:srgbClr val="f8fafc"/>
                    </a:solidFill>
                  </a:tcPr>
                </a:tc>
              </a:tr>
              <a:tr h="329184">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304 ms (-74.2%)</a:t>
                      </a:r>
                    </a:p>
                  </a:txBody>
                  <a:tcPr anchor="ctr">
                    <a:solidFill>
                      <a:srgbClr val="ffffff"/>
                    </a:solidFill>
                  </a:tcPr>
                </a:tc>
                <a:tc>
                  <a:txBody>
                    <a:bodyPr wrap="square"/>
                    <a:lstStyle/>
                    <a:p>
                      <a:pPr algn="ctr"/>
                      <a:r>
                        <a:rPr sz="900" b="0"/>
                        <a:t>23.6 req/s</a:t>
                      </a:r>
                    </a:p>
                  </a:txBody>
                  <a:tcPr anchor="ctr">
                    <a:solidFill>
                      <a:srgbClr val="ffffff"/>
                    </a:solidFill>
                  </a:tcPr>
                </a:tc>
              </a:tr>
              <a:tr h="329184">
                <a:tc>
                  <a:txBody>
                    <a:bodyPr wrap="square"/>
                    <a:lstStyle/>
                    <a:p>
                      <a:pPr algn="l"/>
                      <a:r>
                        <a:rPr sz="900" b="0"/>
                        <a:t>3.4 Tuned+EPP</a:t>
                      </a:r>
                    </a:p>
                  </a:txBody>
                  <a:tcPr anchor="ctr">
                    <a:solidFill>
                      <a:srgbClr val="f8fafc"/>
                    </a:solidFill>
                  </a:tcPr>
                </a:tc>
                <a:tc>
                  <a:txBody>
                    <a:bodyPr wrap="square"/>
                    <a:lstStyle/>
                    <a:p>
                      <a:pPr algn="ctr"/>
                      <a:r>
                        <a:rPr sz="900" b="0"/>
                        <a:t>2x TP8</a:t>
                      </a:r>
                    </a:p>
                  </a:txBody>
                  <a:tcPr anchor="ctr">
                    <a:solidFill>
                      <a:srgbClr val="f8fafc"/>
                    </a:solidFill>
                  </a:tcPr>
                </a:tc>
                <a:tc>
                  <a:txBody>
                    <a:bodyPr wrap="square"/>
                    <a:lstStyle/>
                    <a:p>
                      <a:pPr algn="ctr"/>
                      <a:r>
                        <a:rPr sz="900" b="0"/>
                        <a:t>287 ms (-75.6%)</a:t>
                      </a:r>
                    </a:p>
                  </a:txBody>
                  <a:tcPr anchor="ctr">
                    <a:solidFill>
                      <a:srgbClr val="f8fafc"/>
                    </a:solidFill>
                  </a:tcPr>
                </a:tc>
                <a:tc>
                  <a:txBody>
                    <a:bodyPr wrap="square"/>
                    <a:lstStyle/>
                    <a:p>
                      <a:pPr algn="ctr"/>
                      <a:r>
                        <a:rPr sz="900" b="0"/>
                        <a:t>23.5 req/s</a:t>
                      </a:r>
                    </a:p>
                  </a:txBody>
                  <a:tcPr anchor="ctr">
                    <a:solidFill>
                      <a:srgbClr val="f8fafc"/>
                    </a:solidFill>
                  </a:tcPr>
                </a:tc>
              </a:tr>
            </a:tbl>
          </a:graphicData>
        </a:graphic>
      </p:graphicFrame>
      <p:sp>
        <p:nvSpPr>
          <p:cNvPr id="7" name="TextBox 6"/>
          <p:cNvSpPr txBox="1"/>
          <p:nvPr/>
        </p:nvSpPr>
        <p:spPr>
          <a:xfrm>
            <a:off x="457200" y="5394960"/>
            <a:ext cx="10972800" cy="731520"/>
          </a:xfrm>
          <a:prstGeom prst="rect">
            <a:avLst/>
          </a:prstGeom>
          <a:noFill/>
        </p:spPr>
        <p:txBody>
          <a:bodyPr wrap="square">
            <a:spAutoFit/>
          </a:bodyPr>
          <a:lstStyle/>
          <a:p>
            <a:r>
              <a:rPr sz="1000" b="1">
                <a:solidFill>
                  <a:srgbClr val="0C4A6E"/>
                </a:solidFill>
              </a:rPr>
              <a:t>Key: </a:t>
            </a:r>
            <a:r>
              <a:rPr sz="1000" b="0">
                <a:solidFill>
                  <a:srgbClr val="374151"/>
                </a:solidFill>
              </a:rPr>
              <a:t>3.4 delivers 23% lower TTFT on the same PD config. Tuning pushes aggregated TTFT from 995ms to 287ms (-71%). Throughput (req/s) is relatively flat across configs because the system is saturated at 100 concurrent users — the real gain is latency, not throughput.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Llama-70B FP8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800" b="1">
                          <a:solidFill>
                            <a:srgbClr val="FFFFFF"/>
                          </a:solidFill>
                        </a:rPr>
                        <a:t>Metric</a:t>
                      </a:r>
                    </a:p>
                  </a:txBody>
                  <a:tcPr anchor="ctr">
                    <a:solidFill>
                      <a:srgbClr val="0c4a6e"/>
                    </a:solidFill>
                  </a:tcPr>
                </a:tc>
                <a:tc>
                  <a:txBody>
                    <a:bodyPr wrap="square"/>
                    <a:lstStyle/>
                    <a:p>
                      <a:pPr algn="ctr"/>
                      <a:r>
                        <a:rPr sz="800" b="1">
                          <a:solidFill>
                            <a:srgbClr val="FFFFFF"/>
                          </a:solidFill>
                        </a:rPr>
                        <a:t>RHAIIS 3.3</a:t>
                      </a:r>
                    </a:p>
                  </a:txBody>
                  <a:tcPr anchor="ctr">
                    <a:solidFill>
                      <a:srgbClr val="0c4a6e"/>
                    </a:solidFill>
                  </a:tcPr>
                </a:tc>
                <a:tc>
                  <a:txBody>
                    <a:bodyPr wrap="square"/>
                    <a:lstStyle/>
                    <a:p>
                      <a:pPr algn="ctr"/>
                      <a:r>
                        <a:rPr sz="800" b="1">
                          <a:solidFill>
                            <a:srgbClr val="FFFFFF"/>
                          </a:solidFill>
                        </a:rPr>
                        <a:t>RHAIIS 3.4</a:t>
                      </a:r>
                    </a:p>
                  </a:txBody>
                  <a:tcPr anchor="ctr">
                    <a:solidFill>
                      <a:srgbClr val="0c4a6e"/>
                    </a:solidFill>
                  </a:tcPr>
                </a:tc>
                <a:tc>
                  <a:txBody>
                    <a:bodyPr wrap="square"/>
                    <a:lstStyle/>
                    <a:p>
                      <a:pPr algn="ctr"/>
                      <a:r>
                        <a:rPr sz="800" b="1">
                          <a:solidFill>
                            <a:srgbClr val="FFFFFF"/>
                          </a:solidFill>
                        </a:rPr>
                        <a:t>Delta</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-9.9%</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-33.7%</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2,093 ms</a:t>
                      </a:r>
                    </a:p>
                  </a:txBody>
                  <a:tcPr anchor="ctr">
                    <a:solidFill>
                      <a:srgbClr val="f8fafc"/>
                    </a:solidFill>
                  </a:tcPr>
                </a:tc>
                <a:tc>
                  <a:txBody>
                    <a:bodyPr wrap="square"/>
                    <a:lstStyle/>
                    <a:p>
                      <a:pPr algn="ctr"/>
                      <a:r>
                        <a:rPr sz="900" b="0"/>
                        <a:t>1,563 ms</a:t>
                      </a:r>
                    </a:p>
                  </a:txBody>
                  <a:tcPr anchor="ctr">
                    <a:solidFill>
                      <a:srgbClr val="f8fafc"/>
                    </a:solidFill>
                  </a:tcPr>
                </a:tc>
                <a:tc>
                  <a:txBody>
                    <a:bodyPr wrap="square"/>
                    <a:lstStyle/>
                    <a:p>
                      <a:pPr algn="ctr"/>
                      <a:r>
                        <a:rPr sz="900" b="0"/>
                        <a:t>-25.3%</a:t>
                      </a:r>
                    </a:p>
                  </a:txBody>
                  <a:tcPr anchor="ctr">
                    <a:solidFill>
                      <a:srgbClr val="f8fafc"/>
                    </a:solidFill>
                  </a:tcPr>
                </a:tc>
                <a:tc>
                  <a:txBody>
                    <a:bodyPr wrap="square"/>
                    <a:lstStyle/>
                    <a:p>
                      <a:pPr algn="ctr"/>
                      <a:r>
                        <a:rPr sz="900" b="0"/>
                        <a:t>2,272 ms</a:t>
                      </a:r>
                    </a:p>
                  </a:txBody>
                  <a:tcPr anchor="ctr">
                    <a:solidFill>
                      <a:srgbClr val="f8fafc"/>
                    </a:solidFill>
                  </a:tcPr>
                </a:tc>
                <a:tc>
                  <a:txBody>
                    <a:bodyPr wrap="square"/>
                    <a:lstStyle/>
                    <a:p>
                      <a:pPr algn="ctr"/>
                      <a:r>
                        <a:rPr sz="900" b="0"/>
                        <a:t>+8.6%</a:t>
                      </a:r>
                    </a:p>
                  </a:txBody>
                  <a:tcPr anchor="ctr">
                    <a:solidFill>
                      <a:srgbClr val="f8fafc"/>
                    </a:solidFill>
                  </a:tcPr>
                </a:tc>
              </a:tr>
              <a:tr h="365760">
                <a:tc>
                  <a:txBody>
                    <a:bodyPr wrap="square"/>
                    <a:lstStyle/>
                    <a:p>
                      <a:pPr algn="l"/>
                      <a:r>
                        <a:rPr sz="900" b="0"/>
                        <a:t>Throughput</a:t>
                      </a:r>
                    </a:p>
                  </a:txBody>
                  <a:tcPr anchor="ctr">
                    <a:solidFill>
                      <a:srgbClr val="ffffff"/>
                    </a:solidFill>
                  </a:tcPr>
                </a:tc>
                <a:tc>
                  <a:txBody>
                    <a:bodyPr wrap="square"/>
                    <a:lstStyle/>
                    <a:p>
                      <a:pPr algn="ctr"/>
                      <a:r>
                        <a:rPr sz="900" b="0"/>
                        <a:t>28.7 req/s</a:t>
                      </a:r>
                    </a:p>
                  </a:txBody>
                  <a:tcPr anchor="ctr">
                    <a:solidFill>
                      <a:srgbClr val="ffffff"/>
                    </a:solidFill>
                  </a:tcPr>
                </a:tc>
                <a:tc>
                  <a:txBody>
                    <a:bodyPr wrap="square"/>
                    <a:lstStyle/>
                    <a:p>
                      <a:pPr algn="ctr"/>
                      <a:r>
                        <a:rPr sz="900" b="0"/>
                        <a:t>25.6 req/s</a:t>
                      </a:r>
                    </a:p>
                  </a:txBody>
                  <a:tcPr anchor="ctr">
                    <a:solidFill>
                      <a:srgbClr val="ffffff"/>
                    </a:solidFill>
                  </a:tcPr>
                </a:tc>
                <a:tc>
                  <a:txBody>
                    <a:bodyPr wrap="square"/>
                    <a:lstStyle/>
                    <a:p>
                      <a:pPr algn="ctr"/>
                      <a:r>
                        <a:rPr sz="900" b="0"/>
                        <a:t>-10.8%</a:t>
                      </a:r>
                    </a:p>
                  </a:txBody>
                  <a:tcPr anchor="ctr">
                    <a:solidFill>
                      <a:srgbClr val="ffffff"/>
                    </a:solidFill>
                  </a:tcPr>
                </a:tc>
                <a:tc>
                  <a:txBody>
                    <a:bodyPr wrap="square"/>
                    <a:lstStyle/>
                    <a:p>
                      <a:pPr algn="ctr"/>
                      <a:r>
                        <a:rPr sz="900" b="0"/>
                        <a:t>25.2 req/s</a:t>
                      </a:r>
                    </a:p>
                  </a:txBody>
                  <a:tcPr anchor="ctr">
                    <a:solidFill>
                      <a:srgbClr val="ffffff"/>
                    </a:solidFill>
                  </a:tcPr>
                </a:tc>
                <a:tc>
                  <a:txBody>
                    <a:bodyPr wrap="square"/>
                    <a:lstStyle/>
                    <a:p>
                      <a:pPr algn="ctr"/>
                      <a:r>
                        <a:rPr sz="900" b="0"/>
                        <a:t>-12.2%</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23.5 ms</a:t>
                      </a:r>
                    </a:p>
                  </a:txBody>
                  <a:tcPr anchor="ctr">
                    <a:solidFill>
                      <a:srgbClr val="f8fafc"/>
                    </a:solidFill>
                  </a:tcPr>
                </a:tc>
                <a:tc>
                  <a:txBody>
                    <a:bodyPr wrap="square"/>
                    <a:lstStyle/>
                    <a:p>
                      <a:pPr algn="ctr"/>
                      <a:r>
                        <a:rPr sz="900" b="0"/>
                        <a:t>17.7 ms</a:t>
                      </a:r>
                    </a:p>
                  </a:txBody>
                  <a:tcPr anchor="ctr">
                    <a:solidFill>
                      <a:srgbClr val="f8fafc"/>
                    </a:solidFill>
                  </a:tcPr>
                </a:tc>
                <a:tc>
                  <a:txBody>
                    <a:bodyPr wrap="square"/>
                    <a:lstStyle/>
                    <a:p>
                      <a:pPr algn="ctr"/>
                      <a:r>
                        <a:rPr sz="900" b="0"/>
                        <a:t>-24.7%</a:t>
                      </a:r>
                    </a:p>
                  </a:txBody>
                  <a:tcPr anchor="ctr">
                    <a:solidFill>
                      <a:srgbClr val="f8fafc"/>
                    </a:solidFill>
                  </a:tcPr>
                </a:tc>
                <a:tc>
                  <a:txBody>
                    <a:bodyPr wrap="square"/>
                    <a:lstStyle/>
                    <a:p>
                      <a:pPr algn="ctr"/>
                      <a:r>
                        <a:rPr sz="900" b="0"/>
                        <a:t>17.9 ms</a:t>
                      </a:r>
                    </a:p>
                  </a:txBody>
                  <a:tcPr anchor="ctr">
                    <a:solidFill>
                      <a:srgbClr val="f8fafc"/>
                    </a:solidFill>
                  </a:tcPr>
                </a:tc>
                <a:tc>
                  <a:txBody>
                    <a:bodyPr wrap="square"/>
                    <a:lstStyle/>
                    <a:p>
                      <a:pPr algn="ctr"/>
                      <a:r>
                        <a:rPr sz="900" b="0"/>
                        <a:t>-23.8%</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Same Config Comparison (2xTP8)</a:t>
            </a:r>
          </a:p>
        </p:txBody>
      </p:sp>
      <p:graphicFrame>
        <p:nvGraphicFramePr>
          <p:cNvPr id="6" name="Table 5"/>
          <p:cNvGraphicFramePr>
            <a:graphicFrameLocks noGrp="1"/>
          </p:cNvGraphicFramePr>
          <p:nvPr/>
        </p:nvGraphicFramePr>
        <p:xfrm>
          <a:off x="457200" y="3566160"/>
          <a:ext cx="8229600" cy="1280160"/>
        </p:xfrm>
        <a:graphic>
          <a:graphicData uri="http://schemas.openxmlformats.org/drawingml/2006/table">
            <a:tbl>
              <a:tblPr firstRow="1" bandRow="1">
                <a:tableStyleId>{5C22544A-7EE6-4342-B048-85BDC9FD1C3A}</a:tableStyleId>
              </a:tblPr>
              <a:tblGrid>
                <a:gridCol w="1645920"/>
                <a:gridCol w="1828800"/>
                <a:gridCol w="1828800"/>
                <a:gridCol w="2926080"/>
              </a:tblGrid>
              <a:tr h="320040">
                <a:tc>
                  <a:txBody>
                    <a:bodyPr wrap="square"/>
                    <a:lstStyle/>
                    <a:p>
                      <a:pPr algn="ctr"/>
                      <a:r>
                        <a:rPr sz="800" b="1">
                          <a:solidFill>
                            <a:srgbClr val="FFFFFF"/>
                          </a:solidFill>
                        </a:rPr>
                        <a:t>Version</a:t>
                      </a:r>
                    </a:p>
                  </a:txBody>
                  <a:tcPr anchor="ctr">
                    <a:solidFill>
                      <a:srgbClr val="0c4a6e"/>
                    </a:solidFill>
                  </a:tcPr>
                </a:tc>
                <a:tc>
                  <a:txBody>
                    <a:bodyPr wrap="square"/>
                    <a:lstStyle/>
                    <a:p>
                      <a:pPr algn="ctr"/>
                      <a:r>
                        <a:rPr sz="800" b="1">
                          <a:solidFill>
                            <a:srgbClr val="FFFFFF"/>
                          </a:solidFill>
                        </a:rPr>
                        <a:t>TTFT P90</a:t>
                      </a:r>
                    </a:p>
                  </a:txBody>
                  <a:tcPr anchor="ctr">
                    <a:solidFill>
                      <a:srgbClr val="0c4a6e"/>
                    </a:solidFill>
                  </a:tcPr>
                </a:tc>
                <a:tc>
                  <a:txBody>
                    <a:bodyPr wrap="square"/>
                    <a:lstStyle/>
                    <a:p>
                      <a:pPr algn="ctr"/>
                      <a:r>
                        <a:rPr sz="800" b="1">
                          <a:solidFill>
                            <a:srgbClr val="FFFFFF"/>
                          </a:solidFill>
                        </a:rPr>
                        <a:t>Throughput</a:t>
                      </a:r>
                    </a:p>
                  </a:txBody>
                  <a:tcPr anchor="ctr">
                    <a:solidFill>
                      <a:srgbClr val="0c4a6e"/>
                    </a:solidFill>
                  </a:tcPr>
                </a:tc>
                <a:tc>
                  <a:txBody>
                    <a:bodyPr wrap="square"/>
                    <a:lstStyle/>
                    <a:p>
                      <a:pPr algn="ctr"/>
                      <a:r>
                        <a:rPr sz="800" b="1">
                          <a:solidFill>
                            <a:srgbClr val="FFFFFF"/>
                          </a:solidFill>
                        </a:rPr>
                        <a:t>vs 3.3 TTFT</a:t>
                      </a:r>
                    </a:p>
                  </a:txBody>
                  <a:tcPr anchor="ctr">
                    <a:solidFill>
                      <a:srgbClr val="0c4a6e"/>
                    </a:solidFill>
                  </a:tcPr>
                </a:tc>
              </a:tr>
              <a:tr h="320040">
                <a:tc>
                  <a:txBody>
                    <a:bodyPr wrap="square"/>
                    <a:lstStyle/>
                    <a:p>
                      <a:pPr algn="l"/>
                      <a:r>
                        <a:rPr sz="900" b="0"/>
                        <a:t>RHAIIS 3.3</a:t>
                      </a:r>
                    </a:p>
                  </a:txBody>
                  <a:tcPr anchor="ctr">
                    <a:solidFill>
                      <a:srgbClr val="ffffff"/>
                    </a:solidFill>
                  </a:tcPr>
                </a:tc>
                <a:tc>
                  <a:txBody>
                    <a:bodyPr wrap="square"/>
                    <a:lstStyle/>
                    <a:p>
                      <a:pPr algn="ctr"/>
                      <a:r>
                        <a:rPr sz="900" b="0"/>
                        <a:t>831 ms</a:t>
                      </a:r>
                    </a:p>
                  </a:txBody>
                  <a:tcPr anchor="ctr">
                    <a:solidFill>
                      <a:srgbClr val="ffffff"/>
                    </a:solidFill>
                  </a:tcPr>
                </a:tc>
                <a:tc>
                  <a:txBody>
                    <a:bodyPr wrap="square"/>
                    <a:lstStyle/>
                    <a:p>
                      <a:pPr algn="ctr"/>
                      <a:r>
                        <a:rPr sz="900" b="0"/>
                        <a:t>26.8 req/s</a:t>
                      </a:r>
                    </a:p>
                  </a:txBody>
                  <a:tcPr anchor="ctr">
                    <a:solidFill>
                      <a:srgbClr val="ffffff"/>
                    </a:solidFill>
                  </a:tcPr>
                </a:tc>
                <a:tc>
                  <a:txBody>
                    <a:bodyPr wrap="square"/>
                    <a:lstStyle/>
                    <a:p>
                      <a:pPr algn="ctr"/>
                      <a:r>
                        <a:rPr sz="900" b="0"/>
                        <a:t>Baseline</a:t>
                      </a:r>
                    </a:p>
                  </a:txBody>
                  <a:tcPr anchor="ctr">
                    <a:solidFill>
                      <a:srgbClr val="ffffff"/>
                    </a:solidFill>
                  </a:tcPr>
                </a:tc>
              </a:tr>
              <a:tr h="320040">
                <a:tc>
                  <a:txBody>
                    <a:bodyPr wrap="square"/>
                    <a:lstStyle/>
                    <a:p>
                      <a:pPr algn="l"/>
                      <a:r>
                        <a:rPr sz="900" b="0"/>
                        <a:t>RHAIIS 3.4</a:t>
                      </a:r>
                    </a:p>
                  </a:txBody>
                  <a:tcPr anchor="ctr">
                    <a:solidFill>
                      <a:srgbClr val="f8fafc"/>
                    </a:solidFill>
                  </a:tcPr>
                </a:tc>
                <a:tc>
                  <a:txBody>
                    <a:bodyPr wrap="square"/>
                    <a:lstStyle/>
                    <a:p>
                      <a:pPr algn="ctr"/>
                      <a:r>
                        <a:rPr sz="900" b="0"/>
                        <a:t>1,292 ms</a:t>
                      </a:r>
                    </a:p>
                  </a:txBody>
                  <a:tcPr anchor="ctr">
                    <a:solidFill>
                      <a:srgbClr val="f8fafc"/>
                    </a:solidFill>
                  </a:tcPr>
                </a:tc>
                <a:tc>
                  <a:txBody>
                    <a:bodyPr wrap="square"/>
                    <a:lstStyle/>
                    <a:p>
                      <a:pPr algn="ctr"/>
                      <a:r>
                        <a:rPr sz="900" b="0"/>
                        <a:t>27.0 req/s</a:t>
                      </a:r>
                    </a:p>
                  </a:txBody>
                  <a:tcPr anchor="ctr">
                    <a:solidFill>
                      <a:srgbClr val="f8fafc"/>
                    </a:solidFill>
                  </a:tcPr>
                </a:tc>
                <a:tc>
                  <a:txBody>
                    <a:bodyPr wrap="square"/>
                    <a:lstStyle/>
                    <a:p>
                      <a:pPr algn="ctr"/>
                      <a:r>
                        <a:rPr sz="900" b="0"/>
                        <a:t>+55.5% (regression)</a:t>
                      </a:r>
                    </a:p>
                  </a:txBody>
                  <a:tcPr anchor="ctr">
                    <a:solidFill>
                      <a:srgbClr val="f8fafc"/>
                    </a:solidFill>
                  </a:tcPr>
                </a:tc>
              </a:tr>
              <a:tr h="320040">
                <a:tc>
                  <a:txBody>
                    <a:bodyPr wrap="square"/>
                    <a:lstStyle/>
                    <a:p>
                      <a:pPr algn="l"/>
                      <a:r>
                        <a:rPr sz="900" b="0"/>
                        <a:t>3.4 Tuned</a:t>
                      </a:r>
                    </a:p>
                  </a:txBody>
                  <a:tcPr anchor="ctr">
                    <a:solidFill>
                      <a:srgbClr val="ffffff"/>
                    </a:solidFill>
                  </a:tcPr>
                </a:tc>
                <a:tc>
                  <a:txBody>
                    <a:bodyPr wrap="square"/>
                    <a:lstStyle/>
                    <a:p>
                      <a:pPr algn="ctr"/>
                      <a:r>
                        <a:rPr sz="900" b="0"/>
                        <a:t>463 ms</a:t>
                      </a:r>
                    </a:p>
                  </a:txBody>
                  <a:tcPr anchor="ctr">
                    <a:solidFill>
                      <a:srgbClr val="ffffff"/>
                    </a:solidFill>
                  </a:tcPr>
                </a:tc>
                <a:tc>
                  <a:txBody>
                    <a:bodyPr wrap="square"/>
                    <a:lstStyle/>
                    <a:p>
                      <a:pPr algn="ctr"/>
                      <a:r>
                        <a:rPr sz="900" b="0"/>
                        <a:t>26.9 req/s</a:t>
                      </a:r>
                    </a:p>
                  </a:txBody>
                  <a:tcPr anchor="ctr">
                    <a:solidFill>
                      <a:srgbClr val="ffffff"/>
                    </a:solidFill>
                  </a:tcPr>
                </a:tc>
                <a:tc>
                  <a:txBody>
                    <a:bodyPr wrap="square"/>
                    <a:lstStyle/>
                    <a:p>
                      <a:pPr algn="ctr"/>
                      <a:r>
                        <a:rPr sz="900" b="0"/>
                        <a:t>-44.3% (recovered)</a:t>
                      </a:r>
                    </a:p>
                  </a:txBody>
                  <a:tcPr anchor="ctr">
                    <a:solidFill>
                      <a:srgbClr val="ffffff"/>
                    </a:solidFill>
                  </a:tcPr>
                </a:tc>
              </a:tr>
            </a:tbl>
          </a:graphicData>
        </a:graphic>
      </p:graphicFrame>
      <p:sp>
        <p:nvSpPr>
          <p:cNvPr id="7" name="TextBox 6"/>
          <p:cNvSpPr txBox="1"/>
          <p:nvPr/>
        </p:nvSpPr>
        <p:spPr>
          <a:xfrm>
            <a:off x="457200" y="5029200"/>
            <a:ext cx="10972800" cy="914400"/>
          </a:xfrm>
          <a:prstGeom prst="rect">
            <a:avLst/>
          </a:prstGeom>
          <a:noFill/>
        </p:spPr>
        <p:txBody>
          <a:bodyPr wrap="square">
            <a:spAutoFit/>
          </a:bodyPr>
          <a:lstStyle/>
          <a:p>
            <a:r>
              <a:rPr sz="1000" b="1">
                <a:solidFill>
                  <a:srgbClr val="0C4A6E"/>
                </a:solidFill>
              </a:rPr>
              <a:t>Key: </a:t>
            </a:r>
            <a:r>
              <a:rPr sz="1000" b="0">
                <a:solidFill>
                  <a:srgbClr val="374151"/>
                </a:solidFill>
              </a:rPr>
              <a:t>PD improved 10% TTFT. Aggregated TP8 </a:t>
            </a:r>
            <a:r>
              <a:rPr sz="1000" b="1">
                <a:solidFill>
                  <a:srgbClr val="991B1B"/>
                </a:solidFill>
              </a:rPr>
              <a:t>regressed +55.5% </a:t>
            </a:r>
            <a:r>
              <a:rPr sz="1000" b="0">
                <a:solidFill>
                  <a:srgbClr val="374151"/>
                </a:solidFill>
              </a:rPr>
              <a:t>in 3.4 default but </a:t>
            </a:r>
            <a:r>
              <a:rPr sz="1000" b="1">
                <a:solidFill>
                  <a:srgbClr val="065F46"/>
                </a:solidFill>
              </a:rPr>
              <a:t>fully recovered to -44.3% below 3.3 baseline with tuning. </a:t>
            </a:r>
            <a:r>
              <a:rPr sz="1000" b="0">
                <a:solidFill>
                  <a:srgbClr val="374151"/>
                </a:solidFill>
              </a:rPr>
              <a:t>Throughput stays ~27 req/s across all versions — the system is concurrency-limited at 100 users.</a:t>
            </a:r>
          </a:p>
          <a:p>
            <a:r>
              <a:rPr sz="900" b="0">
                <a:solidFill>
                  <a:srgbClr val="92400E"/>
                </a:solidFill>
              </a:rPr>
              <a:t>Note: P99 regressed with tuning (+8.6%) due to tail latency spikes at higher gpu_memory_utilization (0.95 vs 0.90).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Regression Summary — TTFT P90 (ms)</a:t>
            </a:r>
          </a:p>
        </p:txBody>
      </p:sp>
      <p:graphicFrame>
        <p:nvGraphicFramePr>
          <p:cNvPr id="3" name="Table 2"/>
          <p:cNvGraphicFramePr>
            <a:graphicFrameLocks noGrp="1"/>
          </p:cNvGraphicFramePr>
          <p:nvPr/>
        </p:nvGraphicFramePr>
        <p:xfrm>
          <a:off x="457200" y="822960"/>
          <a:ext cx="9509760" cy="1828800"/>
        </p:xfrm>
        <a:graphic>
          <a:graphicData uri="http://schemas.openxmlformats.org/drawingml/2006/table">
            <a:tbl>
              <a:tblPr firstRow="1" bandRow="1">
                <a:tableStyleId>{5C22544A-7EE6-4342-B048-85BDC9FD1C3A}</a:tableStyleId>
              </a:tblPr>
              <a:tblGrid>
                <a:gridCol w="2286000"/>
                <a:gridCol w="1371600"/>
                <a:gridCol w="1645920"/>
                <a:gridCol w="1097280"/>
                <a:gridCol w="2011680"/>
                <a:gridCol w="1097280"/>
              </a:tblGrid>
              <a:tr h="365760">
                <a:tc>
                  <a:txBody>
                    <a:bodyPr wrap="square"/>
                    <a:lstStyle/>
                    <a:p>
                      <a:pPr algn="ctr"/>
                      <a:r>
                        <a:rPr sz="800" b="1">
                          <a:solidFill>
                            <a:srgbClr val="FFFFFF"/>
                          </a:solidFill>
                        </a:rPr>
                        <a:t>Model + Config</a:t>
                      </a:r>
                    </a:p>
                  </a:txBody>
                  <a:tcPr anchor="ctr">
                    <a:solidFill>
                      <a:srgbClr val="0c4a6e"/>
                    </a:solidFill>
                  </a:tcPr>
                </a:tc>
                <a:tc>
                  <a:txBody>
                    <a:bodyPr wrap="square"/>
                    <a:lstStyle/>
                    <a:p>
                      <a:pPr algn="ctr"/>
                      <a:r>
                        <a:rPr sz="800" b="1">
                          <a:solidFill>
                            <a:srgbClr val="FFFFFF"/>
                          </a:solidFill>
                        </a:rPr>
                        <a:t>RHAIIS 3.3</a:t>
                      </a:r>
                    </a:p>
                  </a:txBody>
                  <a:tcPr anchor="ctr">
                    <a:solidFill>
                      <a:srgbClr val="0c4a6e"/>
                    </a:solidFill>
                  </a:tcPr>
                </a:tc>
                <a:tc>
                  <a:txBody>
                    <a:bodyPr wrap="square"/>
                    <a:lstStyle/>
                    <a:p>
                      <a:pPr algn="ctr"/>
                      <a:r>
                        <a:rPr sz="800" b="1">
                          <a:solidFill>
                            <a:srgbClr val="FFFFFF"/>
                          </a:solidFill>
                        </a:rPr>
                        <a:t>RHAIIS 3.4</a:t>
                      </a:r>
                    </a:p>
                  </a:txBody>
                  <a:tcPr anchor="ctr">
                    <a:solidFill>
                      <a:srgbClr val="0c4a6e"/>
                    </a:solidFill>
                  </a:tcPr>
                </a:tc>
                <a:tc>
                  <a:txBody>
                    <a:bodyPr wrap="square"/>
                    <a:lstStyle/>
                    <a:p>
                      <a:pPr algn="ctr"/>
                      <a:r>
                        <a:rPr sz="800" b="1">
                          <a:solidFill>
                            <a:srgbClr val="FFFFFF"/>
                          </a:solidFill>
                        </a:rPr>
                        <a:t>3.3 vs 3.4</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Tuned</a:t>
                      </a:r>
                    </a:p>
                  </a:txBody>
                  <a:tcPr anchor="ctr">
                    <a:solidFill>
                      <a:srgbClr val="0c4a6e"/>
                    </a:solidFill>
                  </a:tcPr>
                </a:tc>
              </a:tr>
              <a:tr h="365760">
                <a:tc>
                  <a:txBody>
                    <a:bodyPr wrap="square"/>
                    <a:lstStyle/>
                    <a:p>
                      <a:pPr algn="l"/>
                      <a:r>
                        <a:rPr sz="900" b="0"/>
                        <a:t>Qwen PD (3P+1D TP4)</a:t>
                      </a:r>
                    </a:p>
                  </a:txBody>
                  <a:tcPr anchor="ctr">
                    <a:solidFill>
                      <a:srgbClr val="ffffff"/>
                    </a:solidFill>
                  </a:tcPr>
                </a:tc>
                <a:tc>
                  <a:txBody>
                    <a:bodyPr wrap="square"/>
                    <a:lstStyle/>
                    <a:p>
                      <a:pPr algn="ctr"/>
                      <a:r>
                        <a:rPr sz="900" b="0"/>
                        <a:t>880 ms</a:t>
                      </a:r>
                    </a:p>
                  </a:txBody>
                  <a:tcPr anchor="ctr">
                    <a:solidFill>
                      <a:srgbClr val="ffffff"/>
                    </a:solidFill>
                  </a:tcPr>
                </a:tc>
                <a:tc>
                  <a:txBody>
                    <a:bodyPr wrap="square"/>
                    <a:lstStyle/>
                    <a:p>
                      <a:pPr algn="ctr"/>
                      <a:r>
                        <a:rPr sz="900" b="0"/>
                        <a:t>675 ms</a:t>
                      </a:r>
                    </a:p>
                  </a:txBody>
                  <a:tcPr anchor="ctr">
                    <a:solidFill>
                      <a:srgbClr val="ffffff"/>
                    </a:solidFill>
                  </a:tcPr>
                </a:tc>
                <a:tc>
                  <a:txBody>
                    <a:bodyPr wrap="square"/>
                    <a:lstStyle/>
                    <a:p>
                      <a:pPr algn="ctr"/>
                      <a:r>
                        <a:rPr sz="900" b="0"/>
                        <a:t>-23%</a:t>
                      </a:r>
                    </a:p>
                  </a:txBody>
                  <a:tcPr anchor="ctr">
                    <a:solidFill>
                      <a:srgbClr val="ffffff"/>
                    </a:solidFill>
                  </a:tcPr>
                </a:tc>
                <a:tc>
                  <a:txBody>
                    <a:bodyPr wrap="square"/>
                    <a:lstStyle/>
                    <a:p>
                      <a:pPr algn="ctr"/>
                      <a:r>
                        <a:rPr sz="900" b="0"/>
                        <a:t>534 ms</a:t>
                      </a:r>
                    </a:p>
                  </a:txBody>
                  <a:tcPr anchor="ctr">
                    <a:solidFill>
                      <a:srgbClr val="ffffff"/>
                    </a:solidFill>
                  </a:tcPr>
                </a:tc>
                <a:tc>
                  <a:txBody>
                    <a:bodyPr wrap="square"/>
                    <a:lstStyle/>
                    <a:p>
                      <a:pPr algn="ctr"/>
                      <a:r>
                        <a:rPr sz="900" b="0"/>
                        <a:t>-39%</a:t>
                      </a:r>
                    </a:p>
                  </a:txBody>
                  <a:tcPr anchor="ctr">
                    <a:solidFill>
                      <a:srgbClr val="ffffff"/>
                    </a:solidFill>
                  </a:tcPr>
                </a:tc>
              </a:tr>
              <a:tr h="365760">
                <a:tc>
                  <a:txBody>
                    <a:bodyPr wrap="square"/>
                    <a:lstStyle/>
                    <a:p>
                      <a:pPr algn="l"/>
                      <a:r>
                        <a:rPr sz="900" b="0"/>
                        <a:t>Qwen Agg best</a:t>
                      </a:r>
                    </a:p>
                  </a:txBody>
                  <a:tcPr anchor="ctr">
                    <a:solidFill>
                      <a:srgbClr val="f8fafc"/>
                    </a:solidFill>
                  </a:tcPr>
                </a:tc>
                <a:tc>
                  <a:txBody>
                    <a:bodyPr wrap="square"/>
                    <a:lstStyle/>
                    <a:p>
                      <a:pPr algn="ctr"/>
                      <a:r>
                        <a:rPr sz="900" b="0"/>
                        <a:t>1,177 ms (4xTP4)</a:t>
                      </a:r>
                    </a:p>
                  </a:txBody>
                  <a:tcPr anchor="ctr">
                    <a:solidFill>
                      <a:srgbClr val="f8fafc"/>
                    </a:solidFill>
                  </a:tcPr>
                </a:tc>
                <a:tc>
                  <a:txBody>
                    <a:bodyPr wrap="square"/>
                    <a:lstStyle/>
                    <a:p>
                      <a:pPr algn="ctr"/>
                      <a:r>
                        <a:rPr sz="900" b="0"/>
                        <a:t>995 ms (8xTP2)</a:t>
                      </a:r>
                    </a:p>
                  </a:txBody>
                  <a:tcPr anchor="ctr">
                    <a:solidFill>
                      <a:srgbClr val="f8fafc"/>
                    </a:solidFill>
                  </a:tcPr>
                </a:tc>
                <a:tc>
                  <a:txBody>
                    <a:bodyPr wrap="square"/>
                    <a:lstStyle/>
                    <a:p>
                      <a:pPr algn="ctr"/>
                      <a:r>
                        <a:rPr sz="900" b="0"/>
                        <a:t>-15%</a:t>
                      </a:r>
                    </a:p>
                  </a:txBody>
                  <a:tcPr anchor="ctr">
                    <a:solidFill>
                      <a:srgbClr val="f8fafc"/>
                    </a:solidFill>
                  </a:tcPr>
                </a:tc>
                <a:tc>
                  <a:txBody>
                    <a:bodyPr wrap="square"/>
                    <a:lstStyle/>
                    <a:p>
                      <a:pPr algn="ctr"/>
                      <a:r>
                        <a:rPr sz="900" b="0"/>
                        <a:t>287 ms (2xTP8+EPP)</a:t>
                      </a:r>
                    </a:p>
                  </a:txBody>
                  <a:tcPr anchor="ctr">
                    <a:solidFill>
                      <a:srgbClr val="f8fafc"/>
                    </a:solidFill>
                  </a:tcPr>
                </a:tc>
                <a:tc>
                  <a:txBody>
                    <a:bodyPr wrap="square"/>
                    <a:lstStyle/>
                    <a:p>
                      <a:pPr algn="ctr"/>
                      <a:r>
                        <a:rPr sz="900" b="0"/>
                        <a:t>-76%</a:t>
                      </a:r>
                    </a:p>
                  </a:txBody>
                  <a:tcPr anchor="ctr">
                    <a:solidFill>
                      <a:srgbClr val="f8fafc"/>
                    </a:solidFill>
                  </a:tcPr>
                </a:tc>
              </a:tr>
              <a:tr h="365760">
                <a:tc>
                  <a:txBody>
                    <a:bodyPr wrap="square"/>
                    <a:lstStyle/>
                    <a:p>
                      <a:pPr algn="l"/>
                      <a:r>
                        <a:rPr sz="900" b="0"/>
                        <a:t>Llama PD (3P+1D TP4)</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-10%</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-34%</a:t>
                      </a:r>
                    </a:p>
                  </a:txBody>
                  <a:tcPr anchor="ctr">
                    <a:solidFill>
                      <a:srgbClr val="ffffff"/>
                    </a:solidFill>
                  </a:tcPr>
                </a:tc>
              </a:tr>
              <a:tr h="365760">
                <a:tc>
                  <a:txBody>
                    <a:bodyPr wrap="square"/>
                    <a:lstStyle/>
                    <a:p>
                      <a:pPr algn="l"/>
                      <a:r>
                        <a:rPr sz="900" b="0"/>
                        <a:t>Llama Agg (2xTP8)</a:t>
                      </a:r>
                    </a:p>
                  </a:txBody>
                  <a:tcPr anchor="ctr">
                    <a:solidFill>
                      <a:srgbClr val="f8fafc"/>
                    </a:solidFill>
                  </a:tcPr>
                </a:tc>
                <a:tc>
                  <a:txBody>
                    <a:bodyPr wrap="square"/>
                    <a:lstStyle/>
                    <a:p>
                      <a:pPr algn="ctr"/>
                      <a:r>
                        <a:rPr sz="900" b="0"/>
                        <a:t>831 ms</a:t>
                      </a:r>
                    </a:p>
                  </a:txBody>
                  <a:tcPr anchor="ctr">
                    <a:solidFill>
                      <a:srgbClr val="f8fafc"/>
                    </a:solidFill>
                  </a:tcPr>
                </a:tc>
                <a:tc>
                  <a:txBody>
                    <a:bodyPr wrap="square"/>
                    <a:lstStyle/>
                    <a:p>
                      <a:pPr algn="ctr"/>
                      <a:r>
                        <a:rPr sz="900" b="0"/>
                        <a:t>1,292 ms</a:t>
                      </a:r>
                    </a:p>
                  </a:txBody>
                  <a:tcPr anchor="ctr">
                    <a:solidFill>
                      <a:srgbClr val="f8fafc"/>
                    </a:solidFill>
                  </a:tcPr>
                </a:tc>
                <a:tc>
                  <a:txBody>
                    <a:bodyPr wrap="square"/>
                    <a:lstStyle/>
                    <a:p>
                      <a:pPr algn="ctr"/>
                      <a:r>
                        <a:rPr sz="900" b="0"/>
                        <a:t>+55%</a:t>
                      </a:r>
                    </a:p>
                  </a:txBody>
                  <a:tcPr anchor="ctr">
                    <a:solidFill>
                      <a:srgbClr val="f8fafc"/>
                    </a:solidFill>
                  </a:tcPr>
                </a:tc>
                <a:tc>
                  <a:txBody>
                    <a:bodyPr wrap="square"/>
                    <a:lstStyle/>
                    <a:p>
                      <a:pPr algn="ctr"/>
                      <a:r>
                        <a:rPr sz="900" b="0"/>
                        <a:t>463 ms</a:t>
                      </a:r>
                    </a:p>
                  </a:txBody>
                  <a:tcPr anchor="ctr">
                    <a:solidFill>
                      <a:srgbClr val="f8fafc"/>
                    </a:solidFill>
                  </a:tcPr>
                </a:tc>
                <a:tc>
                  <a:txBody>
                    <a:bodyPr wrap="square"/>
                    <a:lstStyle/>
                    <a:p>
                      <a:pPr algn="ctr"/>
                      <a:r>
                        <a:rPr sz="900" b="0"/>
                        <a:t>-44%</a:t>
                      </a:r>
                    </a:p>
                  </a:txBody>
                  <a:tcPr anchor="ctr">
                    <a:solidFill>
                      <a:srgbClr val="f8fafc"/>
                    </a:solidFill>
                  </a:tcPr>
                </a:tc>
              </a:tr>
            </a:tbl>
          </a:graphicData>
        </a:graphic>
      </p:graphicFrame>
      <p:sp>
        <p:nvSpPr>
          <p:cNvPr id="4" name="TextBox 3"/>
          <p:cNvSpPr txBox="1"/>
          <p:nvPr/>
        </p:nvSpPr>
        <p:spPr>
          <a:xfrm>
            <a:off x="457200" y="2926080"/>
            <a:ext cx="10972800" cy="274320"/>
          </a:xfrm>
          <a:prstGeom prst="rect">
            <a:avLst/>
          </a:prstGeom>
          <a:noFill/>
        </p:spPr>
        <p:txBody>
          <a:bodyPr wrap="square">
            <a:spAutoFit/>
          </a:bodyPr>
          <a:lstStyle/>
          <a:p>
            <a:r>
              <a:rPr sz="1400" b="1">
                <a:solidFill>
                  <a:srgbClr val="0C4A6E"/>
                </a:solidFill>
              </a:rPr>
              <a:t>Key Takeaways</a:t>
            </a:r>
          </a:p>
        </p:txBody>
      </p:sp>
      <p:sp>
        <p:nvSpPr>
          <p:cNvPr id="5" name="TextBox 4"/>
          <p:cNvSpPr txBox="1"/>
          <p:nvPr/>
        </p:nvSpPr>
        <p:spPr>
          <a:xfrm>
            <a:off x="457200" y="3291840"/>
            <a:ext cx="10972800" cy="2286000"/>
          </a:xfrm>
          <a:prstGeom prst="rect">
            <a:avLst/>
          </a:prstGeom>
          <a:noFill/>
        </p:spPr>
        <p:txBody>
          <a:bodyPr wrap="square">
            <a:spAutoFit/>
          </a:bodyPr>
          <a:lstStyle/>
          <a:p>
            <a:r>
              <a:rPr sz="1100" b="1">
                <a:solidFill>
                  <a:srgbClr val="374151"/>
                </a:solidFill>
              </a:rPr>
              <a:t>• PD consistently improves TTFT in 3.4</a:t>
            </a:r>
            <a:r>
              <a:rPr sz="1100" b="0">
                <a:solidFill>
                  <a:srgbClr val="374151"/>
                </a:solidFill>
              </a:rPr>
              <a:t> — both models show 10-23% lower TTFT on same config</a:t>
            </a:r>
          </a:p>
          <a:p>
            <a:pPr>
              <a:spcBef>
                <a:spcPts val="400"/>
              </a:spcBef>
            </a:pPr>
            <a:r>
              <a:rPr sz="1100" b="1">
                <a:solidFill>
                  <a:srgbClr val="374151"/>
                </a:solidFill>
              </a:rPr>
              <a:t>• Aggregated depends on TP + model</a:t>
            </a:r>
            <a:r>
              <a:rPr sz="1100" b="0">
                <a:solidFill>
                  <a:srgbClr val="374151"/>
                </a:solidFill>
              </a:rPr>
              <a:t> — Qwen improved across all TPs, Llama regressed at TP8 (+55%)</a:t>
            </a:r>
          </a:p>
          <a:p>
            <a:pPr>
              <a:spcBef>
                <a:spcPts val="400"/>
              </a:spcBef>
            </a:pPr>
            <a:r>
              <a:rPr sz="1100" b="1">
                <a:solidFill>
                  <a:srgbClr val="374151"/>
                </a:solidFill>
              </a:rPr>
              <a:t>• Tuning recovers all regressions</a:t>
            </a:r>
            <a:r>
              <a:rPr sz="1100" b="0">
                <a:solidFill>
                  <a:srgbClr val="374151"/>
                </a:solidFill>
              </a:rPr>
              <a:t> — Llama TP8 regression fully recovered to -44% below 3.3 baseline</a:t>
            </a:r>
          </a:p>
          <a:p>
            <a:pPr>
              <a:spcBef>
                <a:spcPts val="400"/>
              </a:spcBef>
            </a:pPr>
            <a:r>
              <a:rPr sz="1100" b="1">
                <a:solidFill>
                  <a:srgbClr val="374151"/>
                </a:solidFill>
              </a:rPr>
              <a:t>• TTFT is where the gains are</a:t>
            </a:r>
            <a:r>
              <a:rPr sz="1100" b="0">
                <a:solidFill>
                  <a:srgbClr val="374151"/>
                </a:solidFill>
              </a:rPr>
              <a:t> — throughput (req/s) is flat at ~25 req/s because 100 users saturate the system</a:t>
            </a:r>
          </a:p>
          <a:p>
            <a:pPr>
              <a:spcBef>
                <a:spcPts val="400"/>
              </a:spcBef>
            </a:pPr>
            <a:r>
              <a:rPr sz="1100" b="1">
                <a:solidFill>
                  <a:srgbClr val="374151"/>
                </a:solidFill>
              </a:rPr>
              <a:t>• Tuning adds 34-76% TTFT improvement</a:t>
            </a:r>
            <a:r>
              <a:rPr sz="1100" b="0">
                <a:solidFill>
                  <a:srgbClr val="374151"/>
                </a:solidFill>
              </a:rPr>
              <a:t> — via gpu_memory_utilization, max_num_seqs, block_size, EPP weights</a:t>
            </a:r>
          </a:p>
          <a:p>
            <a:pPr>
              <a:spcBef>
                <a:spcPts val="400"/>
              </a:spcBef>
            </a:pPr>
            <a:r>
              <a:rPr sz="1100" b="1">
                <a:solidFill>
                  <a:srgbClr val="374151"/>
                </a:solidFill>
              </a:rPr>
              <a:t>• Optimal config shifts between versions</a:t>
            </a:r>
            <a:r>
              <a:rPr sz="1100" b="0">
                <a:solidFill>
                  <a:srgbClr val="374151"/>
                </a:solidFill>
              </a:rPr>
              <a:t> — automated search is critical, manual 3.3 config may be suboptimal in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Issues Discovered &amp; Filed Upstream</a:t>
            </a:r>
          </a:p>
        </p:txBody>
      </p:sp>
      <p:sp>
        <p:nvSpPr>
          <p:cNvPr id="3" name="TextBox 2"/>
          <p:cNvSpPr txBox="1"/>
          <p:nvPr/>
        </p:nvSpPr>
        <p:spPr>
          <a:xfrm>
            <a:off x="457200" y="914400"/>
            <a:ext cx="10972800" cy="1371600"/>
          </a:xfrm>
          <a:prstGeom prst="rect">
            <a:avLst/>
          </a:prstGeom>
          <a:noFill/>
        </p:spPr>
        <p:txBody>
          <a:bodyPr wrap="square">
            <a:spAutoFit/>
          </a:bodyPr>
          <a:lstStyle/>
          <a:p>
            <a:r>
              <a:rPr sz="1600" b="1">
                <a:solidFill>
                  <a:srgbClr val="0C4A6E"/>
                </a:solidFill>
              </a:rPr>
              <a:t>Asymmetric TP (Prefill TP &gt; Decode TP)</a:t>
            </a:r>
          </a:p>
          <a:p>
            <a:pPr>
              <a:spcBef>
                <a:spcPts val="800"/>
              </a:spcBef>
            </a:pPr>
            <a:r>
              <a:rPr sz="1100" b="0">
                <a:solidFill>
                  <a:srgbClr val="374151"/>
                </a:solidFill>
              </a:rPr>
              <a:t>RHAIIS 3.4 enables configurations where prefill pods use more GPUs (higher TP) than decode pods. This allows dedicating more compute to prefill while using fewer GPUs for decode. Disabled for RHAIIS 3.3 due to NIXL KV transfer crashes with asymmetric TP. ServeIt Studio enables it by default for 3.4+.</a:t>
            </a:r>
          </a:p>
        </p:txBody>
      </p:sp>
      <p:sp>
        <p:nvSpPr>
          <p:cNvPr id="4" name="TextBox 3"/>
          <p:cNvSpPr txBox="1"/>
          <p:nvPr/>
        </p:nvSpPr>
        <p:spPr>
          <a:xfrm>
            <a:off x="457200" y="2560320"/>
            <a:ext cx="10972800" cy="365760"/>
          </a:xfrm>
          <a:prstGeom prst="rect">
            <a:avLst/>
          </a:prstGeom>
          <a:noFill/>
        </p:spPr>
        <p:txBody>
          <a:bodyPr wrap="square">
            <a:spAutoFit/>
          </a:bodyPr>
          <a:lstStyle/>
          <a:p>
            <a:r>
              <a:rPr sz="1600" b="1">
                <a:solidFill>
                  <a:srgbClr val="0C4A6E"/>
                </a:solidFill>
              </a:rPr>
              <a:t>vLLM Issues Filed During Testing</a:t>
            </a:r>
          </a:p>
        </p:txBody>
      </p:sp>
      <p:graphicFrame>
        <p:nvGraphicFramePr>
          <p:cNvPr id="5" name="Table 4"/>
          <p:cNvGraphicFramePr>
            <a:graphicFrameLocks noGrp="1"/>
          </p:cNvGraphicFramePr>
          <p:nvPr/>
        </p:nvGraphicFramePr>
        <p:xfrm>
          <a:off x="457200" y="3017520"/>
          <a:ext cx="10972800" cy="1463040"/>
        </p:xfrm>
        <a:graphic>
          <a:graphicData uri="http://schemas.openxmlformats.org/drawingml/2006/table">
            <a:tbl>
              <a:tblPr firstRow="1" bandRow="1">
                <a:tableStyleId>{5C22544A-7EE6-4342-B048-85BDC9FD1C3A}</a:tableStyleId>
              </a:tblPr>
              <a:tblGrid>
                <a:gridCol w="1371600"/>
                <a:gridCol w="3200400"/>
                <a:gridCol w="6400800"/>
              </a:tblGrid>
              <a:tr h="365760">
                <a:tc>
                  <a:txBody>
                    <a:bodyPr wrap="square"/>
                    <a:lstStyle/>
                    <a:p>
                      <a:pPr algn="ctr"/>
                      <a:r>
                        <a:rPr sz="800" b="1">
                          <a:solidFill>
                            <a:srgbClr val="FFFFFF"/>
                          </a:solidFill>
                        </a:rPr>
                        <a:t>Issue</a:t>
                      </a:r>
                    </a:p>
                  </a:txBody>
                  <a:tcPr anchor="ctr">
                    <a:solidFill>
                      <a:srgbClr val="0c4a6e"/>
                    </a:solidFill>
                  </a:tcPr>
                </a:tc>
                <a:tc>
                  <a:txBody>
                    <a:bodyPr wrap="square"/>
                    <a:lstStyle/>
                    <a:p>
                      <a:pPr algn="ctr"/>
                      <a:r>
                        <a:rPr sz="800" b="1">
                          <a:solidFill>
                            <a:srgbClr val="FFFFFF"/>
                          </a:solidFill>
                        </a:rPr>
                        <a:t>Title</a:t>
                      </a:r>
                    </a:p>
                  </a:txBody>
                  <a:tcPr anchor="ctr">
                    <a:solidFill>
                      <a:srgbClr val="0c4a6e"/>
                    </a:solidFill>
                  </a:tcPr>
                </a:tc>
                <a:tc>
                  <a:txBody>
                    <a:bodyPr wrap="square"/>
                    <a:lstStyle/>
                    <a:p>
                      <a:pPr algn="ctr"/>
                      <a:r>
                        <a:rPr sz="800" b="1">
                          <a:solidFill>
                            <a:srgbClr val="FFFFFF"/>
                          </a:solidFill>
                        </a:rPr>
                        <a:t>Impact &amp; Workaround</a:t>
                      </a:r>
                    </a:p>
                  </a:txBody>
                  <a:tcPr anchor="ctr">
                    <a:solidFill>
                      <a:srgbClr val="0c4a6e"/>
                    </a:solidFill>
                  </a:tcPr>
                </a:tc>
              </a:tr>
              <a:tr h="365760">
                <a:tc>
                  <a:txBody>
                    <a:bodyPr wrap="square"/>
                    <a:lstStyle/>
                    <a:p>
                      <a:pPr algn="l"/>
                      <a:r>
                        <a:rPr sz="900" b="0"/>
                        <a:t>vllm#43396</a:t>
                      </a:r>
                    </a:p>
                  </a:txBody>
                  <a:tcPr anchor="ctr">
                    <a:solidFill>
                      <a:srgbClr val="ffffff"/>
                    </a:solidFill>
                  </a:tcPr>
                </a:tc>
                <a:tc>
                  <a:txBody>
                    <a:bodyPr wrap="square"/>
                    <a:lstStyle/>
                    <a:p>
                      <a:pPr algn="ctr"/>
                      <a:r>
                        <a:rPr sz="900" b="0"/>
                        <a:t>FP8 MoE CUTLASS OOB at batch 8192</a:t>
                      </a:r>
                    </a:p>
                  </a:txBody>
                  <a:tcPr anchor="ctr">
                    <a:solidFill>
                      <a:srgbClr val="ffffff"/>
                    </a:solidFill>
                  </a:tcPr>
                </a:tc>
                <a:tc>
                  <a:txBody>
                    <a:bodyPr wrap="square"/>
                    <a:lstStyle/>
                    <a:p>
                      <a:pPr algn="ctr"/>
                      <a:r>
                        <a:rPr sz="900" b="0"/>
                        <a:t>Runtime patch applied in templates. Affects FP8 MoE at high batch sizes.</a:t>
                      </a:r>
                    </a:p>
                  </a:txBody>
                  <a:tcPr anchor="ctr">
                    <a:solidFill>
                      <a:srgbClr val="ffffff"/>
                    </a:solidFill>
                  </a:tcPr>
                </a:tc>
              </a:tr>
              <a:tr h="365760">
                <a:tc>
                  <a:txBody>
                    <a:bodyPr wrap="square"/>
                    <a:lstStyle/>
                    <a:p>
                      <a:pPr algn="l"/>
                      <a:r>
                        <a:rPr sz="900" b="0"/>
                        <a:t>vllm#43398</a:t>
                      </a:r>
                    </a:p>
                  </a:txBody>
                  <a:tcPr anchor="ctr">
                    <a:solidFill>
                      <a:srgbClr val="f8fafc"/>
                    </a:solidFill>
                  </a:tcPr>
                </a:tc>
                <a:tc>
                  <a:txBody>
                    <a:bodyPr wrap="square"/>
                    <a:lstStyle/>
                    <a:p>
                      <a:pPr algn="ctr"/>
                      <a:r>
                        <a:rPr sz="900" b="0"/>
                        <a:t>NIXL KV transfer crash with asymmetric TP</a:t>
                      </a:r>
                    </a:p>
                  </a:txBody>
                  <a:tcPr anchor="ctr">
                    <a:solidFill>
                      <a:srgbClr val="f8fafc"/>
                    </a:solidFill>
                  </a:tcPr>
                </a:tc>
                <a:tc>
                  <a:txBody>
                    <a:bodyPr wrap="square"/>
                    <a:lstStyle/>
                    <a:p>
                      <a:pPr algn="ctr"/>
                      <a:r>
                        <a:rPr sz="900" b="0"/>
                        <a:t>Asymmetric TP disabled for llm-d v0.4.0. Enabled for v0.6.0+.</a:t>
                      </a:r>
                    </a:p>
                  </a:txBody>
                  <a:tcPr anchor="ctr">
                    <a:solidFill>
                      <a:srgbClr val="f8fafc"/>
                    </a:solidFill>
                  </a:tcPr>
                </a:tc>
              </a:tr>
              <a:tr h="365760">
                <a:tc>
                  <a:txBody>
                    <a:bodyPr wrap="square"/>
                    <a:lstStyle/>
                    <a:p>
                      <a:pPr algn="l"/>
                      <a:r>
                        <a:rPr sz="900" b="0"/>
                        <a:t>vllm#43523</a:t>
                      </a:r>
                    </a:p>
                  </a:txBody>
                  <a:tcPr anchor="ctr">
                    <a:solidFill>
                      <a:srgbClr val="ffffff"/>
                    </a:solidFill>
                  </a:tcPr>
                </a:tc>
                <a:tc>
                  <a:txBody>
                    <a:bodyPr wrap="square"/>
                    <a:lstStyle/>
                    <a:p>
                      <a:pPr algn="ctr"/>
                      <a:r>
                        <a:rPr sz="900" b="0"/>
                        <a:t>vLLM memory profiling regression</a:t>
                      </a:r>
                    </a:p>
                  </a:txBody>
                  <a:tcPr anchor="ctr">
                    <a:solidFill>
                      <a:srgbClr val="ffffff"/>
                    </a:solidFill>
                  </a:tcPr>
                </a:tc>
                <a:tc>
                  <a:txBody>
                    <a:bodyPr wrap="square"/>
                    <a:lstStyle/>
                    <a:p>
                      <a:pPr algn="ctr"/>
                      <a:r>
                        <a:rPr sz="900" b="0"/>
                        <a:t>Workaround: estimate KV cache from GPU VRAM.</a:t>
                      </a:r>
                    </a:p>
                  </a:txBody>
                  <a:tcPr anchor="ctr">
                    <a:solidFill>
                      <a:srgbClr val="ffffff"/>
                    </a:solidFill>
                  </a:tcPr>
                </a:tc>
              </a:tr>
            </a:tbl>
          </a:graphicData>
        </a:graphic>
      </p:graphicFrame>
      <p:sp>
        <p:nvSpPr>
          <p:cNvPr id="6" name="TextBox 5"/>
          <p:cNvSpPr txBox="1"/>
          <p:nvPr/>
        </p:nvSpPr>
        <p:spPr>
          <a:xfrm>
            <a:off x="457200" y="4754880"/>
            <a:ext cx="10972800" cy="1097280"/>
          </a:xfrm>
          <a:prstGeom prst="rect">
            <a:avLst/>
          </a:prstGeom>
          <a:noFill/>
        </p:spPr>
        <p:txBody>
          <a:bodyPr wrap="square">
            <a:spAutoFit/>
          </a:bodyPr>
          <a:lstStyle/>
          <a:p>
            <a:r>
              <a:rPr sz="1400" b="1">
                <a:solidFill>
                  <a:srgbClr val="0C4A6E"/>
                </a:solidFill>
              </a:rPr>
              <a:t>Additional Findings</a:t>
            </a:r>
          </a:p>
          <a:p>
            <a:pPr>
              <a:spcBef>
                <a:spcPts val="200"/>
              </a:spcBef>
            </a:pPr>
            <a:r>
              <a:rPr sz="1000" b="0">
                <a:solidFill>
                  <a:srgbClr val="374151"/>
                </a:solidFill>
              </a:rPr>
              <a:t>• DeepGemm auto-enables on H200s — crashes with compressed-tensors per-channel FP8 and some models at low TP</a:t>
            </a:r>
          </a:p>
          <a:p>
            <a:pPr>
              <a:spcBef>
                <a:spcPts val="200"/>
              </a:spcBef>
            </a:pPr>
            <a:r>
              <a:rPr sz="1000" b="0">
                <a:solidFill>
                  <a:srgbClr val="374151"/>
                </a:solidFill>
              </a:rPr>
              <a:t>• Hybrid attention models require NixlConnector HMA support for PD — available in llm-d v0.7.0+ (RHAIIS 3.5)</a:t>
            </a:r>
          </a:p>
          <a:p>
            <a:pPr>
              <a:spcBef>
                <a:spcPts val="200"/>
              </a:spcBef>
            </a:pPr>
            <a:r>
              <a:rPr sz="1000" b="0">
                <a:solidFill>
                  <a:srgbClr val="374151"/>
                </a:solidFill>
              </a:rPr>
              <a:t>• MoE models with small shared_expert_intermediate_size limit max TP due to FP8 block quantization</a:t>
            </a:r>
          </a:p>
          <a:p>
            <a:pPr>
              <a:spcBef>
                <a:spcPts val="200"/>
              </a:spcBef>
            </a:pPr>
            <a:r>
              <a:rPr sz="1000" b="0">
                <a:solidFill>
                  <a:srgbClr val="374151"/>
                </a:solidFill>
              </a:rPr>
              <a:t>• Model size now computed from config.json (not model name) — handles multimodal, MoE, compressed-tensors FP8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Recommendations</a:t>
            </a:r>
          </a:p>
        </p:txBody>
      </p:sp>
      <p:sp>
        <p:nvSpPr>
          <p:cNvPr id="3" name="TextBox 2"/>
          <p:cNvSpPr txBox="1"/>
          <p:nvPr/>
        </p:nvSpPr>
        <p:spPr>
          <a:xfrm>
            <a:off x="457200" y="822960"/>
            <a:ext cx="10972800" cy="5486400"/>
          </a:xfrm>
          <a:prstGeom prst="rect">
            <a:avLst/>
          </a:prstGeom>
          <a:noFill/>
        </p:spPr>
        <p:txBody>
          <a:bodyPr wrap="square">
            <a:spAutoFit/>
          </a:bodyPr>
          <a:lstStyle/>
          <a:p>
            <a:r>
              <a:rPr sz="1300" b="1">
                <a:solidFill>
                  <a:srgbClr val="0C4A6E"/>
                </a:solidFill>
              </a:rPr>
              <a:t>Upgrade Path</a:t>
            </a:r>
          </a:p>
          <a:p>
            <a:pPr>
              <a:spcBef>
                <a:spcPts val="400"/>
              </a:spcBef>
            </a:pPr>
            <a:r>
              <a:rPr sz="1000" b="0">
                <a:solidFill>
                  <a:srgbClr val="374151"/>
                </a:solidFill>
              </a:rPr>
              <a:t>RHAIIS 3.4 improves PD latency by 10-23% out of the box. Aggregated depends on TP and model — re-run optimization after upgrading. With auto-tuning, TTFT improves 34-76% beyond version changes.</a:t>
            </a:r>
          </a:p>
          <a:p>
            <a:pPr>
              <a:spcBef>
                <a:spcPts val="1600"/>
              </a:spcBef>
            </a:pPr>
            <a:r>
              <a:rPr sz="1300" b="1">
                <a:solidFill>
                  <a:srgbClr val="0C4A6E"/>
                </a:solidFill>
              </a:rPr>
              <a:t>New Models Requiring RHAIIS 3.5+</a:t>
            </a:r>
          </a:p>
          <a:p>
            <a:pPr>
              <a:spcBef>
                <a:spcPts val="400"/>
              </a:spcBef>
            </a:pPr>
            <a:r>
              <a:rPr sz="1000" b="0">
                <a:solidFill>
                  <a:srgbClr val="374151"/>
                </a:solidFill>
              </a:rPr>
              <a:t>Llama-4-Maverick and Qwen3-Next require llm-d v0.7.0 (RHAIIS 3.5 EA2 / vLLM v0.19.1) for PD disaggregation due to hybrid attention HMA support. Aggregated works on 3.4.</a:t>
            </a:r>
          </a:p>
          <a:p>
            <a:pPr>
              <a:spcBef>
                <a:spcPts val="1600"/>
              </a:spcBef>
            </a:pPr>
            <a:r>
              <a:rPr sz="1300" b="1">
                <a:solidFill>
                  <a:srgbClr val="0C4A6E"/>
                </a:solidFill>
              </a:rPr>
              <a:t>Throughput vs Latency</a:t>
            </a:r>
          </a:p>
          <a:p>
            <a:pPr>
              <a:spcBef>
                <a:spcPts val="400"/>
              </a:spcBef>
            </a:pPr>
            <a:r>
              <a:rPr sz="1000" b="0">
                <a:solidFill>
                  <a:srgbClr val="374151"/>
                </a:solidFill>
              </a:rPr>
              <a:t>At 100 concurrent users, throughput (req/s) is saturated and roughly constant across configs (~25 req/s). The real optimization target is TTFT — how fast users see the first token. Auto-tuning reduces TTFT by 71-76% on the same hardware.</a:t>
            </a:r>
          </a:p>
          <a:p>
            <a:pPr>
              <a:spcBef>
                <a:spcPts val="1600"/>
              </a:spcBef>
            </a:pPr>
            <a:r>
              <a:rPr sz="1300" b="1">
                <a:solidFill>
                  <a:srgbClr val="0C4A6E"/>
                </a:solidFill>
              </a:rPr>
              <a:t>Auto-Tuning Value</a:t>
            </a:r>
          </a:p>
          <a:p>
            <a:pPr>
              <a:spcBef>
                <a:spcPts val="400"/>
              </a:spcBef>
            </a:pPr>
            <a:r>
              <a:rPr sz="1000" b="0">
                <a:solidFill>
                  <a:srgbClr val="374151"/>
                </a:solidFill>
              </a:rPr>
              <a:t>Even without version changes, ServeIt Studio auto-tuning adds 34-76% TTFT improvement through smart gpu_memory_utilization, max_num_seqs, block_size, and EPP weight optimization.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